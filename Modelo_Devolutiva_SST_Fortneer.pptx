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da09232a26a4b67" Type="http://schemas.openxmlformats.org/package/2006/relationships/metadata/core-properties" Target="docProps/core.xml"/><Relationship Id="R13a6343fe87d4763" Type="http://schemas.openxmlformats.org/officeDocument/2006/relationships/officeDocument" Target="ppt/presentation.xml"/><Relationship Id="Rb7ba856c1b9645a9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ed430e42914ccf"/>
  </p:sldMasterIdLst>
  <p:notesMasterIdLst>
    <p:notesMasterId xmlns:r="http://schemas.openxmlformats.org/officeDocument/2006/relationships" r:id="Rc77feeeace21495a"/>
  </p:notesMasterIdLst>
  <p:sldIdLst>
    <p:sldId xmlns:r="http://schemas.openxmlformats.org/officeDocument/2006/relationships" id="256" r:id="Rdb95a7343df04333"/>
    <p:sldId xmlns:r="http://schemas.openxmlformats.org/officeDocument/2006/relationships" id="257" r:id="Re1166b037db04499"/>
    <p:sldId xmlns:r="http://schemas.openxmlformats.org/officeDocument/2006/relationships" id="258" r:id="R8c78177889a6428e"/>
    <p:sldId xmlns:r="http://schemas.openxmlformats.org/officeDocument/2006/relationships" id="259" r:id="R1ac7d468c2ad4031"/>
    <p:sldId xmlns:r="http://schemas.openxmlformats.org/officeDocument/2006/relationships" id="260" r:id="Rbced5446d9324600"/>
    <p:sldId xmlns:r="http://schemas.openxmlformats.org/officeDocument/2006/relationships" id="261" r:id="R0b429db8e84143e7"/>
    <p:sldId xmlns:r="http://schemas.openxmlformats.org/officeDocument/2006/relationships" id="262" r:id="R397836852b1247a2"/>
    <p:sldId xmlns:r="http://schemas.openxmlformats.org/officeDocument/2006/relationships" id="263" r:id="R6f6c2cb2381b4bf7"/>
    <p:sldId xmlns:r="http://schemas.openxmlformats.org/officeDocument/2006/relationships" id="264" r:id="Rb0f6aa945119444d"/>
    <p:sldId xmlns:r="http://schemas.openxmlformats.org/officeDocument/2006/relationships" id="265" r:id="R8580357d694742a9"/>
    <p:sldId xmlns:r="http://schemas.openxmlformats.org/officeDocument/2006/relationships" id="266" r:id="R392084633c7e4bcc"/>
    <p:sldId xmlns:r="http://schemas.openxmlformats.org/officeDocument/2006/relationships" id="267" r:id="Re61aca8000af4e55"/>
    <p:sldId xmlns:r="http://schemas.openxmlformats.org/officeDocument/2006/relationships" id="268" r:id="R4aa225a466954804"/>
    <p:sldId xmlns:r="http://schemas.openxmlformats.org/officeDocument/2006/relationships" id="269" r:id="Ra6d7f95e1bb3488e"/>
    <p:sldId xmlns:r="http://schemas.openxmlformats.org/officeDocument/2006/relationships" id="270" r:id="Rfffdee5e914640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b429db8e84143e7" Type="http://schemas.openxmlformats.org/officeDocument/2006/relationships/slide" Target="slides/slide6.xml"/><Relationship Id="R1ac7d468c2ad4031" Type="http://schemas.openxmlformats.org/officeDocument/2006/relationships/slide" Target="slides/slide4.xml"/><Relationship Id="R250c9ae161b5492a" Type="http://schemas.openxmlformats.org/officeDocument/2006/relationships/tableStyles" Target="tableStyles.xml"/><Relationship Id="R392084633c7e4bcc" Type="http://schemas.openxmlformats.org/officeDocument/2006/relationships/slide" Target="slides/slide11.xml"/><Relationship Id="R397836852b1247a2" Type="http://schemas.openxmlformats.org/officeDocument/2006/relationships/slide" Target="slides/slide7.xml"/><Relationship Id="R4a826fd07ddb4427" Type="http://schemas.openxmlformats.org/officeDocument/2006/relationships/presProps" Target="presProps.xml"/><Relationship Id="R4aa225a466954804" Type="http://schemas.openxmlformats.org/officeDocument/2006/relationships/slide" Target="slides/slide13.xml"/><Relationship Id="R54ed430e42914ccf" Type="http://schemas.openxmlformats.org/officeDocument/2006/relationships/slideMaster" Target="slideMasters/slideMaster1.xml"/><Relationship Id="R6f6c2cb2381b4bf7" Type="http://schemas.openxmlformats.org/officeDocument/2006/relationships/slide" Target="slides/slide8.xml"/><Relationship Id="R8580357d694742a9" Type="http://schemas.openxmlformats.org/officeDocument/2006/relationships/slide" Target="slides/slide10.xml"/><Relationship Id="R8c78177889a6428e" Type="http://schemas.openxmlformats.org/officeDocument/2006/relationships/slide" Target="slides/slide3.xml"/><Relationship Id="Ra6d7f95e1bb3488e" Type="http://schemas.openxmlformats.org/officeDocument/2006/relationships/slide" Target="slides/slide14.xml"/><Relationship Id="Rb0f6aa945119444d" Type="http://schemas.openxmlformats.org/officeDocument/2006/relationships/slide" Target="slides/slide9.xml"/><Relationship Id="Rb21c780a2e3b402e" Type="http://schemas.openxmlformats.org/officeDocument/2006/relationships/theme" Target="theme/theme1.xml"/><Relationship Id="Rbced5446d9324600" Type="http://schemas.openxmlformats.org/officeDocument/2006/relationships/slide" Target="slides/slide5.xml"/><Relationship Id="Rc77feeeace21495a" Type="http://schemas.openxmlformats.org/officeDocument/2006/relationships/notesMaster" Target="notesMasters/notesMaster1.xml"/><Relationship Id="Rdb95a7343df04333" Type="http://schemas.openxmlformats.org/officeDocument/2006/relationships/slide" Target="slides/slide1.xml"/><Relationship Id="Re1166b037db04499" Type="http://schemas.openxmlformats.org/officeDocument/2006/relationships/slide" Target="slides/slide2.xml"/><Relationship Id="Re61aca8000af4e55" Type="http://schemas.openxmlformats.org/officeDocument/2006/relationships/slide" Target="slides/slide12.xml"/><Relationship Id="Rfffdee5e914640f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4417733c83b846b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59a374111d940c9" Type="http://schemas.openxmlformats.org/officeDocument/2006/relationships/slide" Target="../slides/slide1.xml"/><Relationship Id="R0dc87f4a1907416e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d61f758387442de" Type="http://schemas.openxmlformats.org/officeDocument/2006/relationships/slide" Target="../slides/slide2.xml"/><Relationship Id="R95e0f9fa985a4020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0a96d58a46044db" Type="http://schemas.openxmlformats.org/officeDocument/2006/relationships/slide" Target="../slides/slide3.xml"/><Relationship Id="R351f96f83b67481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ce97b2327bf40a7" Type="http://schemas.openxmlformats.org/officeDocument/2006/relationships/notesMaster" Target="../notesMasters/notesMaster1.xml"/><Relationship Id="R76efe7e6d68c4b9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86ffe59b4a574c21" Type="http://schemas.openxmlformats.org/officeDocument/2006/relationships/slide" Target="../slides/slide5.xml"/><Relationship Id="Rd8b5bd0170e641e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38cbe1ac5cc4562" Type="http://schemas.openxmlformats.org/officeDocument/2006/relationships/slide" Target="../slides/slide6.xml"/><Relationship Id="R5e9fa8f637d44e49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c2ca1aa83a84f6c" Type="http://schemas.openxmlformats.org/officeDocument/2006/relationships/slide" Target="../slides/slide7.xml"/><Relationship Id="R6532e6556a70435f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d13d91a286543a3" Type="http://schemas.openxmlformats.org/officeDocument/2006/relationships/notesMaster" Target="../notesMasters/notesMaster1.xml"/><Relationship Id="Rda98cdb2d8a74667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3b485aecf7345a7" Type="http://schemas.openxmlformats.org/officeDocument/2006/relationships/notesMaster" Target="../notesMasters/notesMaster1.xml"/><Relationship Id="R9ff771efdbf84fae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ae0761f877d45dd" Type="http://schemas.openxmlformats.org/officeDocument/2006/relationships/slide" Target="../slides/slide10.xml"/><Relationship Id="Rfc1e777aab55447c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44728c5098b44d6d" Type="http://schemas.openxmlformats.org/officeDocument/2006/relationships/slide" Target="../slides/slide11.xml"/><Relationship Id="Rde08a84ee8934058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716f047a2f5842c9" Type="http://schemas.openxmlformats.org/officeDocument/2006/relationships/notesMaster" Target="../notesMasters/notesMaster1.xml"/><Relationship Id="Rd4c086d58ff8494c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b01314857c064306" Type="http://schemas.openxmlformats.org/officeDocument/2006/relationships/notesMaster" Target="../notesMasters/notesMaster1.xml"/><Relationship Id="Rbdb8f769458149e7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6515469b59524bb6" Type="http://schemas.openxmlformats.org/officeDocument/2006/relationships/slide" Target="../slides/slide14.xml"/><Relationship Id="R6edd0bde3c1b492d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e4abec13dd9446e" Type="http://schemas.openxmlformats.org/officeDocument/2006/relationships/slide" Target="../slides/slide15.xml"/><Relationship Id="Ree1d9bbf11f5421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ff73f47f4df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9e98946f76444dc" Type="http://schemas.openxmlformats.org/officeDocument/2006/relationships/theme" Target="theme/theme2.xml"/><Relationship Id="R7c30767949c34b8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30767949c34b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db3486b73d44b00" Type="http://schemas.openxmlformats.org/officeDocument/2006/relationships/notesSlide" Target="../notesSlides/notesSlide1.xml"/><Relationship Id="R8f218b25a1e843cc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91680bd2d8ea41ca" Type="http://schemas.openxmlformats.org/officeDocument/2006/relationships/notesSlide" Target="../notesSlides/notesSlide2.xml"/><Relationship Id="Rb01d0b285b6e480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776447a165d8464f" Type="http://schemas.openxmlformats.org/officeDocument/2006/relationships/notesSlide" Target="../notesSlides/notesSlide3.xml"/><Relationship Id="Rebeabc13fbb0447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afc7a002fcbf42c9" Type="http://schemas.openxmlformats.org/officeDocument/2006/relationships/slideLayout" Target="../slideLayouts/slideLayout1.xml"/><Relationship Id="Rd779b850cfda4cf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11ce7381f5c4702" Type="http://schemas.openxmlformats.org/officeDocument/2006/relationships/slideLayout" Target="../slideLayouts/slideLayout1.xml"/><Relationship Id="R5691ea9ec728458c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da4623361c324b6b" Type="http://schemas.openxmlformats.org/officeDocument/2006/relationships/slideLayout" Target="../slideLayouts/slideLayout1.xml"/><Relationship Id="Rde3e41315ba1496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8c73a7c3a3c44eac" Type="http://schemas.openxmlformats.org/officeDocument/2006/relationships/slideLayout" Target="../slideLayouts/slideLayout1.xml"/><Relationship Id="Rdfdb198b20fc409f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fe59f7ca9b546a7" Type="http://schemas.openxmlformats.org/officeDocument/2006/relationships/slideLayout" Target="../slideLayouts/slideLayout1.xml"/><Relationship Id="R91f1f8dc5b5341b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81e4ef19931246e5" Type="http://schemas.openxmlformats.org/officeDocument/2006/relationships/slideLayout" Target="../slideLayouts/slideLayout1.xml"/><Relationship Id="Re80c11388cd5414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2771ac92cae4b89" Type="http://schemas.openxmlformats.org/officeDocument/2006/relationships/notesSlide" Target="../notesSlides/notesSlide10.xml"/><Relationship Id="R671b55190fdd494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c8ca2bf7f8044575" Type="http://schemas.openxmlformats.org/officeDocument/2006/relationships/notesSlide" Target="../notesSlides/notesSlide11.xml"/><Relationship Id="Rd7ec9967d28d499e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8f66d96189534020" Type="http://schemas.openxmlformats.org/officeDocument/2006/relationships/notesSlide" Target="../notesSlides/notesSlide12.xml"/><Relationship Id="Ra65265512d7e4f1e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435827578d334ba9" Type="http://schemas.openxmlformats.org/officeDocument/2006/relationships/notesSlide" Target="../notesSlides/notesSlide13.xml"/><Relationship Id="Rb7ee558cc162406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b04751a481e34ea5" Type="http://schemas.openxmlformats.org/officeDocument/2006/relationships/slideLayout" Target="../slideLayouts/slideLayout1.xml"/><Relationship Id="Rc0a3e0eee6c44c7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1c3748bd8cda43bd" Type="http://schemas.openxmlformats.org/officeDocument/2006/relationships/slideLayout" Target="../slideLayouts/slideLayout1.xml"/><Relationship Id="Rd492e6e62a014c08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4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field">
            <a:extLst xmlns:a="http://schemas.openxmlformats.org/drawingml/2006/main">
              <a:ext uri="{FF2B5EF4-FFF2-40B4-BE49-F238E27FC236}">
                <a16:creationId xmlns:a16="http://schemas.microsoft.com/office/drawing/2014/main" id="{E937E1C3-E9D3-4DF9-9BF9-5700AAF4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oft-field">
            <a:extLst xmlns:a="http://schemas.openxmlformats.org/drawingml/2006/main">
              <a:ext uri="{FF2B5EF4-FFF2-40B4-BE49-F238E27FC236}">
                <a16:creationId xmlns:a16="http://schemas.microsoft.com/office/drawing/2014/main" id="{A02C6176-A1F1-4EB3-88FA-2EF2240C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22860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82271CD-0105-4406-B56A-D528829D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DF3E5"/>
                </a:solidFill>
              </a:defRPr>
            </a:pPr>
            <a:r>
              <a:rPr sz="1200" b="1">
                <a:solidFill>
                  <a:srgbClr val="DDF3E5"/>
                </a:solidFill>
              </a:rPr>
              <a:t>SEGURANÇA E MEDICINA DO TRABALHO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B87971D-E729-428B-949E-D8481294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Diagnóstico e plano de ação em SST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129F343-9638-4B9D-B0AE-6B39D6A3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733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F3E5"/>
                </a:solidFill>
              </a:defRPr>
            </a:pPr>
            <a:r>
              <a:rPr sz="1800" b="0">
                <a:solidFill>
                  <a:srgbClr val="DDF3E5"/>
                </a:solidFill>
              </a:rPr>
              <a:t>Uma leitura clara dos riscos, obrigações e prioridades da sua empresa.</a:t>
            </a:r>
          </a:p>
        </p:txBody>
      </p:sp>
      <p:sp>
        <p:nvSpPr>
          <p:cNvPr id="6" name="company">
            <a:extLst xmlns:a="http://schemas.openxmlformats.org/drawingml/2006/main">
              <a:ext uri="{FF2B5EF4-FFF2-40B4-BE49-F238E27FC236}">
                <a16:creationId xmlns:a16="http://schemas.microsoft.com/office/drawing/2014/main" id="{0B435C24-160B-485A-9FEE-74AC3582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[NOME DA EMPRESA]</a:t>
            </a:r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10C0E329-206A-4E39-B1CF-3CC3FFCF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3E5"/>
                </a:solidFill>
              </a:defRPr>
            </a:pPr>
            <a:r>
              <a:rPr sz="1200" b="0">
                <a:solidFill>
                  <a:srgbClr val="DDF3E5"/>
                </a:solidFill>
              </a:rPr>
              <a:t>[PERÍODO DE REFERÊNCIA]</a:t>
            </a:r>
          </a:p>
        </p:txBody>
      </p:sp>
      <p:sp>
        <p:nvSpPr>
          <p:cNvPr id="8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DBD3564B-96B3-4FEB-95D2-32329831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6197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9" name="logo-text">
            <a:extLst xmlns:a="http://schemas.openxmlformats.org/drawingml/2006/main">
              <a:ext uri="{FF2B5EF4-FFF2-40B4-BE49-F238E27FC236}">
                <a16:creationId xmlns:a16="http://schemas.microsoft.com/office/drawing/2014/main" id="{AD02EBBA-4FC0-48D8-B272-7AB29934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6959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</p:spTree>
    <p:extLst>
      <p:ext uri="{BB962C8B-B14F-4D97-AF65-F5344CB8AC3E}">
        <p14:creationId xmlns:p14="http://schemas.microsoft.com/office/powerpoint/2010/main" val="13205492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accent">
            <a:extLst xmlns:a="http://schemas.openxmlformats.org/drawingml/2006/main">
              <a:ext uri="{FF2B5EF4-FFF2-40B4-BE49-F238E27FC236}">
                <a16:creationId xmlns:a16="http://schemas.microsoft.com/office/drawing/2014/main" id="{F74DDC06-A73D-468F-A228-580B682E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D8D6D79-F3BE-4671-9C42-320FFFF9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A4B"/>
                </a:solidFill>
              </a:defRPr>
            </a:pPr>
            <a:r>
              <a:rPr sz="1050" b="1">
                <a:solidFill>
                  <a:srgbClr val="0B7A4B"/>
                </a:solidFill>
              </a:rPr>
              <a:t>DEVOLUTIVA EXECUTIVA DE SST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1157D7-A6CE-4DF0-A30F-DF474D48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4B32"/>
                </a:solidFill>
              </a:defRPr>
            </a:pPr>
            <a:r>
              <a:rPr sz="2475" b="1">
                <a:solidFill>
                  <a:srgbClr val="074B32"/>
                </a:solidFill>
              </a:rPr>
              <a:t>Esta devolutiva transforma laudos em decisões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0E1FC28-C5C8-4B4C-B570-65F2CC94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76B"/>
                </a:solidFill>
              </a:defRPr>
            </a:pPr>
            <a:r>
              <a:rPr sz="1125" b="1">
                <a:solidFill>
                  <a:srgbClr val="60776B"/>
                </a:solidFill>
              </a:rPr>
              <a:t>02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59CAB1E-D5E4-4470-A9FA-5DFE776A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0EB2DF3-7A91-4F61-9D8D-DA33EDF3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6B"/>
                </a:solidFill>
              </a:defRPr>
            </a:pPr>
            <a:r>
              <a:rPr sz="900" b="0">
                <a:solidFill>
                  <a:srgbClr val="60776B"/>
                </a:solidFill>
              </a:rPr>
              <a:t>[NOME DA EMPRESA]  •  [MÊS/ANO]</a:t>
            </a:r>
          </a:p>
        </p:txBody>
      </p:sp>
      <p:sp>
        <p:nvSpPr>
          <p:cNvPr id="7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E78E8B86-5AD7-4E27-A4D2-C2833F58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8" name="logo-text">
            <a:extLst xmlns:a="http://schemas.openxmlformats.org/drawingml/2006/main">
              <a:ext uri="{FF2B5EF4-FFF2-40B4-BE49-F238E27FC236}">
                <a16:creationId xmlns:a16="http://schemas.microsoft.com/office/drawing/2014/main" id="{F146426E-DE67-45F2-95FB-658084A3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  <p:sp>
        <p:nvSpPr>
          <p:cNvPr id="9" name="intro">
            <a:extLst xmlns:a="http://schemas.openxmlformats.org/drawingml/2006/main">
              <a:ext uri="{FF2B5EF4-FFF2-40B4-BE49-F238E27FC236}">
                <a16:creationId xmlns:a16="http://schemas.microsoft.com/office/drawing/2014/main" id="{134E6982-55DF-4A7D-98DB-BD4A6C09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76B"/>
                </a:solidFill>
              </a:defRPr>
            </a:pPr>
            <a:r>
              <a:rPr sz="1650" b="0">
                <a:solidFill>
                  <a:srgbClr val="60776B"/>
                </a:solidFill>
              </a:rPr>
              <a:t>Os documentos técnicos permanecem como base legal. Aqui, traduzimos as conclusões em uma visão prática para a gestão.</a:t>
            </a:r>
          </a:p>
        </p:txBody>
      </p:sp>
      <p:sp>
        <p:nvSpPr>
          <p:cNvPr id="10" name="purpose">
            <a:extLst xmlns:a="http://schemas.openxmlformats.org/drawingml/2006/main">
              <a:ext uri="{FF2B5EF4-FFF2-40B4-BE49-F238E27FC236}">
                <a16:creationId xmlns:a16="http://schemas.microsoft.com/office/drawing/2014/main" id="{B584C23F-F34D-44AF-B539-78BF2D46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428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urpose-head">
            <a:extLst xmlns:a="http://schemas.openxmlformats.org/drawingml/2006/main">
              <a:ext uri="{FF2B5EF4-FFF2-40B4-BE49-F238E27FC236}">
                <a16:creationId xmlns:a16="http://schemas.microsoft.com/office/drawing/2014/main" id="{27222421-4010-42DF-AD56-BC98708F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F3E5"/>
                </a:solidFill>
              </a:defRPr>
            </a:pPr>
            <a:r>
              <a:rPr sz="1350" b="1">
                <a:solidFill>
                  <a:srgbClr val="DDF3E5"/>
                </a:solidFill>
              </a:rPr>
              <a:t>ENTENDER</a:t>
            </a:r>
          </a:p>
        </p:txBody>
      </p:sp>
      <p:sp>
        <p:nvSpPr>
          <p:cNvPr id="12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2D82A45A-DB57-4160-94A9-3B10AE4E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Quais riscos e obrigações se aplicam à empresa</a:t>
            </a:r>
          </a:p>
        </p:txBody>
      </p:sp>
      <p:sp>
        <p:nvSpPr>
          <p:cNvPr id="13" name="purpose-index">
            <a:extLst xmlns:a="http://schemas.openxmlformats.org/drawingml/2006/main">
              <a:ext uri="{FF2B5EF4-FFF2-40B4-BE49-F238E27FC236}">
                <a16:creationId xmlns:a16="http://schemas.microsoft.com/office/drawing/2014/main" id="{FEE37ED6-8BB6-433C-89E0-65459621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F3E5"/>
                </a:solidFill>
              </a:defRPr>
            </a:pPr>
            <a:r>
              <a:rPr sz="1050" b="1">
                <a:solidFill>
                  <a:srgbClr val="DDF3E5"/>
                </a:solidFill>
              </a:rPr>
              <a:t>01</a:t>
            </a:r>
          </a:p>
        </p:txBody>
      </p:sp>
      <p:sp>
        <p:nvSpPr>
          <p:cNvPr id="14" name="purpose">
            <a:extLst xmlns:a="http://schemas.openxmlformats.org/drawingml/2006/main">
              <a:ext uri="{FF2B5EF4-FFF2-40B4-BE49-F238E27FC236}">
                <a16:creationId xmlns:a16="http://schemas.microsoft.com/office/drawing/2014/main" id="{D5372C3E-4BCC-48F7-8E68-FEB8899C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67000"/>
            <a:ext cx="2428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5" name="purpose-head">
            <a:extLst xmlns:a="http://schemas.openxmlformats.org/drawingml/2006/main">
              <a:ext uri="{FF2B5EF4-FFF2-40B4-BE49-F238E27FC236}">
                <a16:creationId xmlns:a16="http://schemas.microsoft.com/office/drawing/2014/main" id="{981BD87F-B392-47D5-AC24-BC1531D0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9146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A4B"/>
                </a:solidFill>
              </a:defRPr>
            </a:pPr>
            <a:r>
              <a:rPr sz="1350" b="1">
                <a:solidFill>
                  <a:srgbClr val="0B7A4B"/>
                </a:solidFill>
              </a:rPr>
              <a:t>PRIORIZAR</a:t>
            </a:r>
          </a:p>
        </p:txBody>
      </p:sp>
      <p:sp>
        <p:nvSpPr>
          <p:cNvPr id="16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2BE70130-2C75-4401-9CCF-C43673B8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2900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72A"/>
                </a:solidFill>
              </a:defRPr>
            </a:pPr>
            <a:r>
              <a:rPr sz="1575" b="1">
                <a:solidFill>
                  <a:srgbClr val="16372A"/>
                </a:solidFill>
              </a:rPr>
              <a:t>O que exige ação imediata e o que pode ser planejado</a:t>
            </a:r>
          </a:p>
        </p:txBody>
      </p:sp>
      <p:sp>
        <p:nvSpPr>
          <p:cNvPr id="17" name="purpose-index">
            <a:extLst xmlns:a="http://schemas.openxmlformats.org/drawingml/2006/main">
              <a:ext uri="{FF2B5EF4-FFF2-40B4-BE49-F238E27FC236}">
                <a16:creationId xmlns:a16="http://schemas.microsoft.com/office/drawing/2014/main" id="{19973787-3083-4236-A04D-10010FF1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6386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76B"/>
                </a:solidFill>
              </a:defRPr>
            </a:pPr>
            <a:r>
              <a:rPr sz="1050" b="1">
                <a:solidFill>
                  <a:srgbClr val="60776B"/>
                </a:solidFill>
              </a:rPr>
              <a:t>02</a:t>
            </a:r>
          </a:p>
        </p:txBody>
      </p:sp>
      <p:sp>
        <p:nvSpPr>
          <p:cNvPr id="18" name="purpose">
            <a:extLst xmlns:a="http://schemas.openxmlformats.org/drawingml/2006/main">
              <a:ext uri="{FF2B5EF4-FFF2-40B4-BE49-F238E27FC236}">
                <a16:creationId xmlns:a16="http://schemas.microsoft.com/office/drawing/2014/main" id="{34474945-A5F8-4E4C-ACB2-BC0EF509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428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9" name="purpose-head">
            <a:extLst xmlns:a="http://schemas.openxmlformats.org/drawingml/2006/main">
              <a:ext uri="{FF2B5EF4-FFF2-40B4-BE49-F238E27FC236}">
                <a16:creationId xmlns:a16="http://schemas.microsoft.com/office/drawing/2014/main" id="{7C6B21D1-3D65-448E-AABD-F9B79648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A4B"/>
                </a:solidFill>
              </a:defRPr>
            </a:pPr>
            <a:r>
              <a:rPr sz="1350" b="1">
                <a:solidFill>
                  <a:srgbClr val="0B7A4B"/>
                </a:solidFill>
              </a:rPr>
              <a:t>ACOMPANHAR</a:t>
            </a:r>
          </a:p>
        </p:txBody>
      </p:sp>
      <p:sp>
        <p:nvSpPr>
          <p:cNvPr id="20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BEA7576F-1DD8-4FB9-84E5-D9C614CB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72A"/>
                </a:solidFill>
              </a:defRPr>
            </a:pPr>
            <a:r>
              <a:rPr sz="1575" b="1">
                <a:solidFill>
                  <a:srgbClr val="16372A"/>
                </a:solidFill>
              </a:rPr>
              <a:t>Responsáveis, prazos e evolução das medidas</a:t>
            </a:r>
          </a:p>
        </p:txBody>
      </p:sp>
      <p:sp>
        <p:nvSpPr>
          <p:cNvPr id="21" name="purpose-index">
            <a:extLst xmlns:a="http://schemas.openxmlformats.org/drawingml/2006/main">
              <a:ext uri="{FF2B5EF4-FFF2-40B4-BE49-F238E27FC236}">
                <a16:creationId xmlns:a16="http://schemas.microsoft.com/office/drawing/2014/main" id="{E3763D6D-58A0-4913-B8DB-2EF298EC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386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76B"/>
                </a:solidFill>
              </a:defRPr>
            </a:pPr>
            <a:r>
              <a:rPr sz="1050" b="1">
                <a:solidFill>
                  <a:srgbClr val="60776B"/>
                </a:solidFill>
              </a:rPr>
              <a:t>03</a:t>
            </a:r>
          </a:p>
        </p:txBody>
      </p:sp>
      <p:sp>
        <p:nvSpPr>
          <p:cNvPr id="22" name="purpose">
            <a:extLst xmlns:a="http://schemas.openxmlformats.org/drawingml/2006/main">
              <a:ext uri="{FF2B5EF4-FFF2-40B4-BE49-F238E27FC236}">
                <a16:creationId xmlns:a16="http://schemas.microsoft.com/office/drawing/2014/main" id="{42BC7143-E189-4255-B5B1-22205582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2428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3" name="purpose-head">
            <a:extLst xmlns:a="http://schemas.openxmlformats.org/drawingml/2006/main">
              <a:ext uri="{FF2B5EF4-FFF2-40B4-BE49-F238E27FC236}">
                <a16:creationId xmlns:a16="http://schemas.microsoft.com/office/drawing/2014/main" id="{FC5317E9-FAD1-497B-9E02-7AFEB8C0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146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A4B"/>
                </a:solidFill>
              </a:defRPr>
            </a:pPr>
            <a:r>
              <a:rPr sz="1350" b="1">
                <a:solidFill>
                  <a:srgbClr val="0B7A4B"/>
                </a:solidFill>
              </a:rPr>
              <a:t>COMPROVAR</a:t>
            </a:r>
          </a:p>
        </p:txBody>
      </p:sp>
      <p:sp>
        <p:nvSpPr>
          <p:cNvPr id="24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1DAC35E1-727B-4041-82E2-14106695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2900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72A"/>
                </a:solidFill>
              </a:defRPr>
            </a:pPr>
            <a:r>
              <a:rPr sz="1575" b="1">
                <a:solidFill>
                  <a:srgbClr val="16372A"/>
                </a:solidFill>
              </a:rPr>
              <a:t>Evidências de controle e atendimento legal</a:t>
            </a:r>
          </a:p>
        </p:txBody>
      </p:sp>
      <p:sp>
        <p:nvSpPr>
          <p:cNvPr id="25" name="purpose-index">
            <a:extLst xmlns:a="http://schemas.openxmlformats.org/drawingml/2006/main">
              <a:ext uri="{FF2B5EF4-FFF2-40B4-BE49-F238E27FC236}">
                <a16:creationId xmlns:a16="http://schemas.microsoft.com/office/drawing/2014/main" id="{3E4FBA77-B36B-43CA-B9EB-A058FAC2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386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76B"/>
                </a:solidFill>
              </a:defRPr>
            </a:pPr>
            <a:r>
              <a:rPr sz="1050" b="1">
                <a:solidFill>
                  <a:srgbClr val="60776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507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accent">
            <a:extLst xmlns:a="http://schemas.openxmlformats.org/drawingml/2006/main">
              <a:ext uri="{FF2B5EF4-FFF2-40B4-BE49-F238E27FC236}">
                <a16:creationId xmlns:a16="http://schemas.microsoft.com/office/drawing/2014/main" id="{8BFB8A5A-AFEA-402A-BF82-89B95DC9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DDCF5B5-37C4-41DB-8AEA-FD429387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A4B"/>
                </a:solidFill>
              </a:defRPr>
            </a:pPr>
            <a:r>
              <a:rPr sz="1050" b="1">
                <a:solidFill>
                  <a:srgbClr val="0B7A4B"/>
                </a:solidFill>
              </a:rPr>
              <a:t>DEVOLUTIVA EXECUTIVA DE SST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D9156F-FD4B-4C52-9584-9A93A9F8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4B32"/>
                </a:solidFill>
              </a:defRPr>
            </a:pPr>
            <a:r>
              <a:rPr sz="2475" b="1">
                <a:solidFill>
                  <a:srgbClr val="074B32"/>
                </a:solidFill>
              </a:rPr>
              <a:t>O diagnóstico considera pessoas, ambientes e processos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1674D5A-D300-4250-8ACA-6E023602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76B"/>
                </a:solidFill>
              </a:defRPr>
            </a:pPr>
            <a:r>
              <a:rPr sz="1125" b="1">
                <a:solidFill>
                  <a:srgbClr val="60776B"/>
                </a:solidFill>
              </a:rPr>
              <a:t>03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A079145-490E-4E06-9973-A539E8C0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3000528-4800-4F3A-BDC3-5E967B32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6B"/>
                </a:solidFill>
              </a:defRPr>
            </a:pPr>
            <a:r>
              <a:rPr sz="900" b="0">
                <a:solidFill>
                  <a:srgbClr val="60776B"/>
                </a:solidFill>
              </a:rPr>
              <a:t>[NOME DA EMPRESA]  •  [MÊS/ANO]</a:t>
            </a:r>
          </a:p>
        </p:txBody>
      </p:sp>
      <p:sp>
        <p:nvSpPr>
          <p:cNvPr id="7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D01E2F14-8ACA-4910-898F-9D8ED76B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8" name="logo-text">
            <a:extLst xmlns:a="http://schemas.openxmlformats.org/drawingml/2006/main">
              <a:ext uri="{FF2B5EF4-FFF2-40B4-BE49-F238E27FC236}">
                <a16:creationId xmlns:a16="http://schemas.microsoft.com/office/drawing/2014/main" id="{BADC448F-E81B-49EC-93F7-59DFD3B6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  <p:sp>
        <p:nvSpPr>
          <p:cNvPr id="9" name="metric">
            <a:extLst xmlns:a="http://schemas.openxmlformats.org/drawingml/2006/main">
              <a:ext uri="{FF2B5EF4-FFF2-40B4-BE49-F238E27FC236}">
                <a16:creationId xmlns:a16="http://schemas.microsoft.com/office/drawing/2014/main" id="{1CCD4985-0C32-4DB3-B0C7-69933218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428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0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8B350691-DDE8-4E3A-8FB1-5C4CF0A5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ABF2185-0FEB-4E91-B3F2-E8495DFB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1927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7A4B"/>
                </a:solidFill>
              </a:defRPr>
            </a:pPr>
            <a:r>
              <a:rPr sz="2550" b="1">
                <a:solidFill>
                  <a:srgbClr val="0B7A4B"/>
                </a:solidFill>
              </a:rPr>
              <a:t>[00]</a:t>
            </a:r>
          </a:p>
        </p:txBody>
      </p:sp>
      <p:sp>
        <p:nvSpPr>
          <p:cNvPr id="1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C932175-EAB7-437C-87E8-1AB2ADE0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028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6B"/>
                </a:solidFill>
              </a:defRPr>
            </a:pPr>
            <a:r>
              <a:rPr sz="1200" b="0">
                <a:solidFill>
                  <a:srgbClr val="60776B"/>
                </a:solidFill>
              </a:rPr>
              <a:t>trabalhadores avaliados</a:t>
            </a:r>
          </a:p>
        </p:txBody>
      </p:sp>
      <p:sp>
        <p:nvSpPr>
          <p:cNvPr id="13" name="metric">
            <a:extLst xmlns:a="http://schemas.openxmlformats.org/drawingml/2006/main">
              <a:ext uri="{FF2B5EF4-FFF2-40B4-BE49-F238E27FC236}">
                <a16:creationId xmlns:a16="http://schemas.microsoft.com/office/drawing/2014/main" id="{032A2E42-A159-4681-9A2F-61E1F498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2428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4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CDCF2652-C21F-46CD-B3E5-7EBADDE1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7222500-0E42-44E9-B5FA-3F315C5E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1927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9A66F"/>
                </a:solidFill>
              </a:defRPr>
            </a:pPr>
            <a:r>
              <a:rPr sz="2550" b="1">
                <a:solidFill>
                  <a:srgbClr val="49A66F"/>
                </a:solidFill>
              </a:rPr>
              <a:t>[00]</a:t>
            </a:r>
          </a:p>
        </p:txBody>
      </p:sp>
      <p:sp>
        <p:nvSpPr>
          <p:cNvPr id="1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DE26F9D6-EDED-44A2-85B9-967C4156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33625"/>
            <a:ext cx="2028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6B"/>
                </a:solidFill>
              </a:defRPr>
            </a:pPr>
            <a:r>
              <a:rPr sz="1200" b="0">
                <a:solidFill>
                  <a:srgbClr val="60776B"/>
                </a:solidFill>
              </a:rPr>
              <a:t>setores analisados</a:t>
            </a:r>
          </a:p>
        </p:txBody>
      </p:sp>
      <p:sp>
        <p:nvSpPr>
          <p:cNvPr id="17" name="metric">
            <a:extLst xmlns:a="http://schemas.openxmlformats.org/drawingml/2006/main">
              <a:ext uri="{FF2B5EF4-FFF2-40B4-BE49-F238E27FC236}">
                <a16:creationId xmlns:a16="http://schemas.microsoft.com/office/drawing/2014/main" id="{B850D4FB-3908-4F8A-BE9B-48DC6FFD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2428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D74020D0-BDFC-42CC-9066-6CE70178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4786837-67EE-4345-B7DE-D7B0FDCE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4B32"/>
                </a:solidFill>
              </a:defRPr>
            </a:pPr>
            <a:r>
              <a:rPr sz="2550" b="1">
                <a:solidFill>
                  <a:srgbClr val="074B32"/>
                </a:solidFill>
              </a:rPr>
              <a:t>[00]</a:t>
            </a:r>
          </a:p>
        </p:txBody>
      </p:sp>
      <p:sp>
        <p:nvSpPr>
          <p:cNvPr id="2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45431DF-3591-4A50-9FE7-C4A5182F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33625"/>
            <a:ext cx="2028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6B"/>
                </a:solidFill>
              </a:defRPr>
            </a:pPr>
            <a:r>
              <a:rPr sz="1200" b="0">
                <a:solidFill>
                  <a:srgbClr val="60776B"/>
                </a:solidFill>
              </a:rPr>
              <a:t>funções mapeadas</a:t>
            </a:r>
          </a:p>
        </p:txBody>
      </p:sp>
      <p:sp>
        <p:nvSpPr>
          <p:cNvPr id="21" name="metric">
            <a:extLst xmlns:a="http://schemas.openxmlformats.org/drawingml/2006/main">
              <a:ext uri="{FF2B5EF4-FFF2-40B4-BE49-F238E27FC236}">
                <a16:creationId xmlns:a16="http://schemas.microsoft.com/office/drawing/2014/main" id="{6C66EAF4-F001-4D5F-9BA8-A11CCE84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66875"/>
            <a:ext cx="2428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2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D80004C4-F64A-4943-B661-444F669B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66875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3103122-86B8-45FA-8940-8A3512F9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1927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7A4B"/>
                </a:solidFill>
              </a:defRPr>
            </a:pPr>
            <a:r>
              <a:rPr sz="2550" b="1">
                <a:solidFill>
                  <a:srgbClr val="0B7A4B"/>
                </a:solidFill>
              </a:rPr>
              <a:t>[00]</a:t>
            </a:r>
          </a:p>
        </p:txBody>
      </p:sp>
      <p:sp>
        <p:nvSpPr>
          <p:cNvPr id="2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DDE5CB20-BBA8-4134-989B-C93B637E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3625"/>
            <a:ext cx="2028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6B"/>
                </a:solidFill>
              </a:defRPr>
            </a:pPr>
            <a:r>
              <a:rPr sz="1200" b="0">
                <a:solidFill>
                  <a:srgbClr val="60776B"/>
                </a:solidFill>
              </a:rPr>
              <a:t>unidades abrangidas</a:t>
            </a:r>
          </a:p>
        </p:txBody>
      </p:sp>
      <p:sp>
        <p:nvSpPr>
          <p:cNvPr id="25" name="scope-title">
            <a:extLst xmlns:a="http://schemas.openxmlformats.org/drawingml/2006/main">
              <a:ext uri="{FF2B5EF4-FFF2-40B4-BE49-F238E27FC236}">
                <a16:creationId xmlns:a16="http://schemas.microsoft.com/office/drawing/2014/main" id="{36F36C04-4173-4280-988F-FF441BCD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4B32"/>
                </a:solidFill>
              </a:defRPr>
            </a:pPr>
            <a:r>
              <a:rPr sz="1800" b="1">
                <a:solidFill>
                  <a:srgbClr val="074B32"/>
                </a:solidFill>
              </a:rPr>
              <a:t>Escopo da avaliação</a:t>
            </a:r>
          </a:p>
        </p:txBody>
      </p:sp>
      <p:sp>
        <p:nvSpPr>
          <p:cNvPr id="26" name="bullet-dot">
            <a:extLst xmlns:a="http://schemas.openxmlformats.org/drawingml/2006/main">
              <a:ext uri="{FF2B5EF4-FFF2-40B4-BE49-F238E27FC236}">
                <a16:creationId xmlns:a16="http://schemas.microsoft.com/office/drawing/2014/main" id="{AF2C0DE2-0057-4742-BF3B-46DC519B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B9BBB49B-2B4D-4FEF-A6A2-42971CED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72A"/>
                </a:solidFill>
              </a:defRPr>
            </a:pPr>
            <a:r>
              <a:rPr sz="1350" b="0">
                <a:solidFill>
                  <a:srgbClr val="16372A"/>
                </a:solidFill>
              </a:rPr>
              <a:t>Documentos considerados: [PGR / PCMSO / LTCAT / LIP / outros]</a:t>
            </a:r>
          </a:p>
        </p:txBody>
      </p:sp>
      <p:sp>
        <p:nvSpPr>
          <p:cNvPr id="28" name="bullet-dot">
            <a:extLst xmlns:a="http://schemas.openxmlformats.org/drawingml/2006/main">
              <a:ext uri="{FF2B5EF4-FFF2-40B4-BE49-F238E27FC236}">
                <a16:creationId xmlns:a16="http://schemas.microsoft.com/office/drawing/2014/main" id="{6026D5B0-EB7E-4912-AFCD-4C7AE9A3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DF8F283F-0914-4847-83EB-074701CE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72A"/>
                </a:solidFill>
              </a:defRPr>
            </a:pPr>
            <a:r>
              <a:rPr sz="1350" b="0">
                <a:solidFill>
                  <a:srgbClr val="16372A"/>
                </a:solidFill>
              </a:rPr>
              <a:t>Visitas e levantamentos realizados em: [datas e unidades]</a:t>
            </a:r>
          </a:p>
        </p:txBody>
      </p:sp>
      <p:sp>
        <p:nvSpPr>
          <p:cNvPr id="30" name="bullet-dot">
            <a:extLst xmlns:a="http://schemas.openxmlformats.org/drawingml/2006/main">
              <a:ext uri="{FF2B5EF4-FFF2-40B4-BE49-F238E27FC236}">
                <a16:creationId xmlns:a16="http://schemas.microsoft.com/office/drawing/2014/main" id="{E7C185A2-9F73-4DB7-830B-E5B7AB3E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9F4E7F82-8C7A-4881-BB38-9176DC34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72A"/>
                </a:solidFill>
              </a:defRPr>
            </a:pPr>
            <a:r>
              <a:rPr sz="1350" b="0">
                <a:solidFill>
                  <a:srgbClr val="16372A"/>
                </a:solidFill>
              </a:rPr>
              <a:t>Responsáveis técnicos: [nomes e registros profissionais]</a:t>
            </a:r>
          </a:p>
        </p:txBody>
      </p:sp>
      <p:sp>
        <p:nvSpPr>
          <p:cNvPr id="32" name="note">
            <a:extLst xmlns:a="http://schemas.openxmlformats.org/drawingml/2006/main">
              <a:ext uri="{FF2B5EF4-FFF2-40B4-BE49-F238E27FC236}">
                <a16:creationId xmlns:a16="http://schemas.microsoft.com/office/drawing/2014/main" id="{7F149BC3-4D16-476D-9B84-F0E47A7D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Substitua os campos entre colchetes e remova itens que não se aplicam.</a:t>
            </a:r>
          </a:p>
        </p:txBody>
      </p:sp>
    </p:spTree>
    <p:extLst>
      <p:ext uri="{BB962C8B-B14F-4D97-AF65-F5344CB8AC3E}">
        <p14:creationId xmlns:p14="http://schemas.microsoft.com/office/powerpoint/2010/main" val="2068523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">
            <a:extLst xmlns:a="http://schemas.openxmlformats.org/drawingml/2006/main">
              <a:ext uri="{FF2B5EF4-FFF2-40B4-BE49-F238E27FC236}">
                <a16:creationId xmlns:a16="http://schemas.microsoft.com/office/drawing/2014/main" id="{CDCBB8F8-88E4-43FE-8562-545ABE6E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88F33C1-1F22-4008-8B32-728551D5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A4B"/>
                </a:solidFill>
              </a:defRPr>
            </a:pPr>
            <a:r>
              <a:rPr sz="1050" b="1">
                <a:solidFill>
                  <a:srgbClr val="0B7A4B"/>
                </a:solidFill>
              </a:rPr>
              <a:t>DEVOLUTIVA EXECUTIVA DE SST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12DEDA-88AD-4C92-AA45-61D445BC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4B32"/>
                </a:solidFill>
              </a:defRPr>
            </a:pPr>
            <a:r>
              <a:rPr sz="2475" b="1">
                <a:solidFill>
                  <a:srgbClr val="074B32"/>
                </a:solidFill>
              </a:rPr>
              <a:t>A situação atual em uma única página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F20F8A6-BE90-449A-8EC0-71CE54E5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76B"/>
                </a:solidFill>
              </a:defRPr>
            </a:pPr>
            <a:r>
              <a:rPr sz="1125" b="1">
                <a:solidFill>
                  <a:srgbClr val="60776B"/>
                </a:solidFill>
              </a:rPr>
              <a:t>04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FDC01FD-E42A-4A5A-B4A8-571E70D6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D7DC867-4611-4F89-ACAC-008B25CD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6B"/>
                </a:solidFill>
              </a:defRPr>
            </a:pPr>
            <a:r>
              <a:rPr sz="900" b="0">
                <a:solidFill>
                  <a:srgbClr val="60776B"/>
                </a:solidFill>
              </a:rPr>
              <a:t>[NOME DA EMPRESA]  •  [MÊS/ANO]</a:t>
            </a:r>
          </a:p>
        </p:txBody>
      </p:sp>
      <p:sp>
        <p:nvSpPr>
          <p:cNvPr id="7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AB7C7044-64B6-467D-9F29-8B4FC453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8" name="logo-text">
            <a:extLst xmlns:a="http://schemas.openxmlformats.org/drawingml/2006/main">
              <a:ext uri="{FF2B5EF4-FFF2-40B4-BE49-F238E27FC236}">
                <a16:creationId xmlns:a16="http://schemas.microsoft.com/office/drawing/2014/main" id="{0CF0B14A-1036-4F45-A713-CACEF8E0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  <p:sp>
        <p:nvSpPr>
          <p:cNvPr id="9" name="status-row">
            <a:extLst xmlns:a="http://schemas.openxmlformats.org/drawingml/2006/main">
              <a:ext uri="{FF2B5EF4-FFF2-40B4-BE49-F238E27FC236}">
                <a16:creationId xmlns:a16="http://schemas.microsoft.com/office/drawing/2014/main" id="{3A039553-8E5E-4F8B-91A9-BCF50EA5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85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0" name="status-band">
            <a:extLst xmlns:a="http://schemas.openxmlformats.org/drawingml/2006/main">
              <a:ext uri="{FF2B5EF4-FFF2-40B4-BE49-F238E27FC236}">
                <a16:creationId xmlns:a16="http://schemas.microsoft.com/office/drawing/2014/main" id="{D0251446-0B5B-4964-B062-20401E1C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143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us-label">
            <a:extLst xmlns:a="http://schemas.openxmlformats.org/drawingml/2006/main">
              <a:ext uri="{FF2B5EF4-FFF2-40B4-BE49-F238E27FC236}">
                <a16:creationId xmlns:a16="http://schemas.microsoft.com/office/drawing/2014/main" id="{E6A8C537-51F7-4832-9C16-38A8D40D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43075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72A"/>
                </a:solidFill>
              </a:defRPr>
            </a:pPr>
            <a:r>
              <a:rPr sz="1575" b="1">
                <a:solidFill>
                  <a:srgbClr val="16372A"/>
                </a:solidFill>
              </a:rPr>
              <a:t>Documentação de SST</a:t>
            </a:r>
          </a:p>
        </p:txBody>
      </p:sp>
      <p:sp>
        <p:nvSpPr>
          <p:cNvPr id="12" name="status-value">
            <a:extLst xmlns:a="http://schemas.openxmlformats.org/drawingml/2006/main">
              <a:ext uri="{FF2B5EF4-FFF2-40B4-BE49-F238E27FC236}">
                <a16:creationId xmlns:a16="http://schemas.microsoft.com/office/drawing/2014/main" id="{3DC02238-79CF-4197-9C45-41AE5BD2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430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0776B"/>
                </a:solidFill>
              </a:defRPr>
            </a:pPr>
            <a:r>
              <a:rPr sz="1350" b="0">
                <a:solidFill>
                  <a:srgbClr val="60776B"/>
                </a:solidFill>
              </a:rPr>
              <a:t>[Conforme / Parcial / Pendente]</a:t>
            </a:r>
          </a:p>
        </p:txBody>
      </p:sp>
      <p:sp>
        <p:nvSpPr>
          <p:cNvPr id="13" name="status-row">
            <a:extLst xmlns:a="http://schemas.openxmlformats.org/drawingml/2006/main">
              <a:ext uri="{FF2B5EF4-FFF2-40B4-BE49-F238E27FC236}">
                <a16:creationId xmlns:a16="http://schemas.microsoft.com/office/drawing/2014/main" id="{58F442A9-07BB-4B62-9502-1D404FDE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685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4" name="status-band">
            <a:extLst xmlns:a="http://schemas.openxmlformats.org/drawingml/2006/main">
              <a:ext uri="{FF2B5EF4-FFF2-40B4-BE49-F238E27FC236}">
                <a16:creationId xmlns:a16="http://schemas.microsoft.com/office/drawing/2014/main" id="{0F60DE6E-F06D-4947-AA5B-2BF7DC05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143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tus-label">
            <a:extLst xmlns:a="http://schemas.openxmlformats.org/drawingml/2006/main">
              <a:ext uri="{FF2B5EF4-FFF2-40B4-BE49-F238E27FC236}">
                <a16:creationId xmlns:a16="http://schemas.microsoft.com/office/drawing/2014/main" id="{3DAE3434-6E67-432C-A459-2FB9BE3A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38425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72A"/>
                </a:solidFill>
              </a:defRPr>
            </a:pPr>
            <a:r>
              <a:rPr sz="1575" b="1">
                <a:solidFill>
                  <a:srgbClr val="16372A"/>
                </a:solidFill>
              </a:rPr>
              <a:t>Exames ocupacionais</a:t>
            </a:r>
          </a:p>
        </p:txBody>
      </p:sp>
      <p:sp>
        <p:nvSpPr>
          <p:cNvPr id="16" name="status-value">
            <a:extLst xmlns:a="http://schemas.openxmlformats.org/drawingml/2006/main">
              <a:ext uri="{FF2B5EF4-FFF2-40B4-BE49-F238E27FC236}">
                <a16:creationId xmlns:a16="http://schemas.microsoft.com/office/drawing/2014/main" id="{7B799E68-AC53-4464-B6C6-706535B4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384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0776B"/>
                </a:solidFill>
              </a:defRPr>
            </a:pPr>
            <a:r>
              <a:rPr sz="1350" b="0">
                <a:solidFill>
                  <a:srgbClr val="60776B"/>
                </a:solidFill>
              </a:rPr>
              <a:t>[00% dentro do prazo]</a:t>
            </a:r>
          </a:p>
        </p:txBody>
      </p:sp>
      <p:sp>
        <p:nvSpPr>
          <p:cNvPr id="17" name="status-row">
            <a:extLst xmlns:a="http://schemas.openxmlformats.org/drawingml/2006/main">
              <a:ext uri="{FF2B5EF4-FFF2-40B4-BE49-F238E27FC236}">
                <a16:creationId xmlns:a16="http://schemas.microsoft.com/office/drawing/2014/main" id="{109D7903-DB5E-40DC-886A-054BE9C4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685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8" name="status-band">
            <a:extLst xmlns:a="http://schemas.openxmlformats.org/drawingml/2006/main">
              <a:ext uri="{FF2B5EF4-FFF2-40B4-BE49-F238E27FC236}">
                <a16:creationId xmlns:a16="http://schemas.microsoft.com/office/drawing/2014/main" id="{33E52C68-00E2-4EC1-A2C2-005FDB71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143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tus-label">
            <a:extLst xmlns:a="http://schemas.openxmlformats.org/drawingml/2006/main">
              <a:ext uri="{FF2B5EF4-FFF2-40B4-BE49-F238E27FC236}">
                <a16:creationId xmlns:a16="http://schemas.microsoft.com/office/drawing/2014/main" id="{D1D7B343-2404-4BBC-8063-F48CF6DF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72A"/>
                </a:solidFill>
              </a:defRPr>
            </a:pPr>
            <a:r>
              <a:rPr sz="1575" b="1">
                <a:solidFill>
                  <a:srgbClr val="16372A"/>
                </a:solidFill>
              </a:rPr>
              <a:t>Controles de risco</a:t>
            </a:r>
          </a:p>
        </p:txBody>
      </p:sp>
      <p:sp>
        <p:nvSpPr>
          <p:cNvPr id="20" name="status-value">
            <a:extLst xmlns:a="http://schemas.openxmlformats.org/drawingml/2006/main">
              <a:ext uri="{FF2B5EF4-FFF2-40B4-BE49-F238E27FC236}">
                <a16:creationId xmlns:a16="http://schemas.microsoft.com/office/drawing/2014/main" id="{32C9B89D-7F97-444F-8E36-8D9EEE3C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337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0776B"/>
                </a:solidFill>
              </a:defRPr>
            </a:pPr>
            <a:r>
              <a:rPr sz="1350" b="0">
                <a:solidFill>
                  <a:srgbClr val="60776B"/>
                </a:solidFill>
              </a:rPr>
              <a:t>[Síntese da condição]</a:t>
            </a:r>
          </a:p>
        </p:txBody>
      </p:sp>
      <p:sp>
        <p:nvSpPr>
          <p:cNvPr id="21" name="status-row">
            <a:extLst xmlns:a="http://schemas.openxmlformats.org/drawingml/2006/main">
              <a:ext uri="{FF2B5EF4-FFF2-40B4-BE49-F238E27FC236}">
                <a16:creationId xmlns:a16="http://schemas.microsoft.com/office/drawing/2014/main" id="{0EF311EC-8CE8-4D59-B8D2-7EA77F7A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685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2" name="status-band">
            <a:extLst xmlns:a="http://schemas.openxmlformats.org/drawingml/2006/main">
              <a:ext uri="{FF2B5EF4-FFF2-40B4-BE49-F238E27FC236}">
                <a16:creationId xmlns:a16="http://schemas.microsoft.com/office/drawing/2014/main" id="{6CC0087F-EFD9-4E63-9C09-AE61F081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143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tus-label">
            <a:extLst xmlns:a="http://schemas.openxmlformats.org/drawingml/2006/main">
              <a:ext uri="{FF2B5EF4-FFF2-40B4-BE49-F238E27FC236}">
                <a16:creationId xmlns:a16="http://schemas.microsoft.com/office/drawing/2014/main" id="{B89DFA4A-80D0-4412-9CBA-D2E1BB5B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72A"/>
                </a:solidFill>
              </a:defRPr>
            </a:pPr>
            <a:r>
              <a:rPr sz="1575" b="1">
                <a:solidFill>
                  <a:srgbClr val="16372A"/>
                </a:solidFill>
              </a:rPr>
              <a:t>Plano de ação</a:t>
            </a:r>
          </a:p>
        </p:txBody>
      </p:sp>
      <p:sp>
        <p:nvSpPr>
          <p:cNvPr id="24" name="status-value">
            <a:extLst xmlns:a="http://schemas.openxmlformats.org/drawingml/2006/main">
              <a:ext uri="{FF2B5EF4-FFF2-40B4-BE49-F238E27FC236}">
                <a16:creationId xmlns:a16="http://schemas.microsoft.com/office/drawing/2014/main" id="{E2AF330A-F2EC-4C6C-B60D-19BFB04D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29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0776B"/>
                </a:solidFill>
              </a:defRPr>
            </a:pPr>
            <a:r>
              <a:rPr sz="1350" b="0">
                <a:solidFill>
                  <a:srgbClr val="60776B"/>
                </a:solidFill>
              </a:rPr>
              <a:t>[00 ações em aberto]</a:t>
            </a:r>
          </a:p>
        </p:txBody>
      </p:sp>
      <p:sp>
        <p:nvSpPr>
          <p:cNvPr id="25" name="priority">
            <a:extLst xmlns:a="http://schemas.openxmlformats.org/drawingml/2006/main">
              <a:ext uri="{FF2B5EF4-FFF2-40B4-BE49-F238E27FC236}">
                <a16:creationId xmlns:a16="http://schemas.microsoft.com/office/drawing/2014/main" id="{87A5936C-4B3F-48DF-9587-924D4038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19250"/>
            <a:ext cx="3143250" cy="33528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riority-kicker">
            <a:extLst xmlns:a="http://schemas.openxmlformats.org/drawingml/2006/main">
              <a:ext uri="{FF2B5EF4-FFF2-40B4-BE49-F238E27FC236}">
                <a16:creationId xmlns:a16="http://schemas.microsoft.com/office/drawing/2014/main" id="{E497B9CB-21A0-4671-A313-507EA1A2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05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F3E5"/>
                </a:solidFill>
              </a:defRPr>
            </a:pPr>
            <a:r>
              <a:rPr sz="1125" b="1">
                <a:solidFill>
                  <a:srgbClr val="DDF3E5"/>
                </a:solidFill>
              </a:rPr>
              <a:t>PRIORIDADE DO CICLO</a:t>
            </a:r>
          </a:p>
        </p:txBody>
      </p:sp>
      <p:sp>
        <p:nvSpPr>
          <p:cNvPr id="27" name="priority-title">
            <a:extLst xmlns:a="http://schemas.openxmlformats.org/drawingml/2006/main">
              <a:ext uri="{FF2B5EF4-FFF2-40B4-BE49-F238E27FC236}">
                <a16:creationId xmlns:a16="http://schemas.microsoft.com/office/drawing/2014/main" id="{14B80E25-F4C3-435C-8883-69B54100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19350"/>
            <a:ext cx="2476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[Descreva a principal decisão que a empresa precisa tomar]</a:t>
            </a:r>
          </a:p>
        </p:txBody>
      </p:sp>
      <p:sp>
        <p:nvSpPr>
          <p:cNvPr id="28" name="priority-copy">
            <a:extLst xmlns:a="http://schemas.openxmlformats.org/drawingml/2006/main">
              <a:ext uri="{FF2B5EF4-FFF2-40B4-BE49-F238E27FC236}">
                <a16:creationId xmlns:a16="http://schemas.microsoft.com/office/drawing/2014/main" id="{32DD8F36-2BE7-4407-9E7A-D99450C0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F3E5"/>
                </a:solidFill>
              </a:defRPr>
            </a:pPr>
            <a:r>
              <a:rPr sz="1275" b="0">
                <a:solidFill>
                  <a:srgbClr val="DDF3E5"/>
                </a:solidFill>
              </a:rPr>
              <a:t>Impacto esperado: [redução de exposição, regularização ou prevenção].</a:t>
            </a:r>
          </a:p>
        </p:txBody>
      </p:sp>
      <p:sp>
        <p:nvSpPr>
          <p:cNvPr id="29" name="legend">
            <a:extLst xmlns:a="http://schemas.openxmlformats.org/drawingml/2006/main">
              <a:ext uri="{FF2B5EF4-FFF2-40B4-BE49-F238E27FC236}">
                <a16:creationId xmlns:a16="http://schemas.microsoft.com/office/drawing/2014/main" id="{41B62692-4914-49F1-89BC-02AFCE34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6B"/>
                </a:solidFill>
              </a:defRPr>
            </a:pPr>
            <a:r>
              <a:rPr sz="1200" b="0">
                <a:solidFill>
                  <a:srgbClr val="60776B"/>
                </a:solidFill>
              </a:rPr>
              <a:t>Use esta página como abertura da reunião: ela antecipa o que merece atenção da direção.</a:t>
            </a:r>
          </a:p>
        </p:txBody>
      </p:sp>
    </p:spTree>
    <p:extLst>
      <p:ext uri="{BB962C8B-B14F-4D97-AF65-F5344CB8AC3E}">
        <p14:creationId xmlns:p14="http://schemas.microsoft.com/office/powerpoint/2010/main" val="857374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4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reen-plane">
            <a:extLst xmlns:a="http://schemas.openxmlformats.org/drawingml/2006/main">
              <a:ext uri="{FF2B5EF4-FFF2-40B4-BE49-F238E27FC236}">
                <a16:creationId xmlns:a16="http://schemas.microsoft.com/office/drawing/2014/main" id="{FE402D8F-6022-4392-BEC1-A0EC5692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C2C3BB0-0951-4B7D-ADC2-3C605865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DF3E5"/>
                </a:solidFill>
              </a:defRPr>
            </a:pPr>
            <a:r>
              <a:rPr sz="4350" b="1">
                <a:solidFill>
                  <a:srgbClr val="DDF3E5"/>
                </a:solidFill>
              </a:rPr>
              <a:t>05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9971AC27-F3C4-47DA-B58A-92333468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Riscos e controles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0A3605A3-2A22-4CC7-9C33-7B9E39CF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9000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F3E5"/>
                </a:solidFill>
              </a:defRPr>
            </a:pPr>
            <a:r>
              <a:rPr sz="1650" b="0">
                <a:solidFill>
                  <a:srgbClr val="DDF3E5"/>
                </a:solidFill>
              </a:rPr>
              <a:t>O que foi identificado e como reduzir a exposição.</a:t>
            </a:r>
          </a:p>
        </p:txBody>
      </p:sp>
      <p:sp>
        <p:nvSpPr>
          <p:cNvPr id="5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AE75D96D-E37C-4145-A16C-7C748419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102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6" name="logo-text">
            <a:extLst xmlns:a="http://schemas.openxmlformats.org/drawingml/2006/main">
              <a:ext uri="{FF2B5EF4-FFF2-40B4-BE49-F238E27FC236}">
                <a16:creationId xmlns:a16="http://schemas.microsoft.com/office/drawing/2014/main" id="{54CE6DDA-9C14-499D-B2AB-6AB2730A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86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</p:spTree>
    <p:extLst>
      <p:ext uri="{BB962C8B-B14F-4D97-AF65-F5344CB8AC3E}">
        <p14:creationId xmlns:p14="http://schemas.microsoft.com/office/powerpoint/2010/main" val="681645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accent">
            <a:extLst xmlns:a="http://schemas.openxmlformats.org/drawingml/2006/main">
              <a:ext uri="{FF2B5EF4-FFF2-40B4-BE49-F238E27FC236}">
                <a16:creationId xmlns:a16="http://schemas.microsoft.com/office/drawing/2014/main" id="{2DDC6B52-7E0B-48F3-BE2B-507C8BF5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B1413C1-F902-4E79-9286-029F7711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A4B"/>
                </a:solidFill>
              </a:defRPr>
            </a:pPr>
            <a:r>
              <a:rPr sz="1050" b="1">
                <a:solidFill>
                  <a:srgbClr val="0B7A4B"/>
                </a:solidFill>
              </a:rPr>
              <a:t>DEVOLUTIVA EXECUTIVA DE SST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657F9B-0CBF-47DE-B316-17B0A134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4B32"/>
                </a:solidFill>
              </a:defRPr>
            </a:pPr>
            <a:r>
              <a:rPr sz="2475" b="1">
                <a:solidFill>
                  <a:srgbClr val="074B32"/>
                </a:solidFill>
              </a:rPr>
              <a:t>Os riscos prioritários concentram as primeiras ações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A615A3-FACC-43F9-B87C-896E0554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76B"/>
                </a:solidFill>
              </a:defRPr>
            </a:pPr>
            <a:r>
              <a:rPr sz="1125" b="1">
                <a:solidFill>
                  <a:srgbClr val="60776B"/>
                </a:solidFill>
              </a:rPr>
              <a:t>06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10662FC-4D81-457B-B96E-7070D8EA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CFFF937-3CA5-4D51-B490-F22CA5D0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6B"/>
                </a:solidFill>
              </a:defRPr>
            </a:pPr>
            <a:r>
              <a:rPr sz="900" b="0">
                <a:solidFill>
                  <a:srgbClr val="60776B"/>
                </a:solidFill>
              </a:rPr>
              <a:t>[NOME DA EMPRESA]  •  [MÊS/ANO]</a:t>
            </a:r>
          </a:p>
        </p:txBody>
      </p:sp>
      <p:sp>
        <p:nvSpPr>
          <p:cNvPr id="7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1A1DED0E-E554-428B-ABBA-36408CD8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8" name="logo-text">
            <a:extLst xmlns:a="http://schemas.openxmlformats.org/drawingml/2006/main">
              <a:ext uri="{FF2B5EF4-FFF2-40B4-BE49-F238E27FC236}">
                <a16:creationId xmlns:a16="http://schemas.microsoft.com/office/drawing/2014/main" id="{BD98AD53-0D35-42EA-8CC9-CB4457DA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  <p:sp>
        <p:nvSpPr>
          <p:cNvPr id="9" name="risk-row">
            <a:extLst xmlns:a="http://schemas.openxmlformats.org/drawingml/2006/main">
              <a:ext uri="{FF2B5EF4-FFF2-40B4-BE49-F238E27FC236}">
                <a16:creationId xmlns:a16="http://schemas.microsoft.com/office/drawing/2014/main" id="{236250E6-1E2C-4C83-B11F-61571D7F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4298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0" name="risk-type">
            <a:extLst xmlns:a="http://schemas.openxmlformats.org/drawingml/2006/main">
              <a:ext uri="{FF2B5EF4-FFF2-40B4-BE49-F238E27FC236}">
                <a16:creationId xmlns:a16="http://schemas.microsoft.com/office/drawing/2014/main" id="{C3D556E1-C6A2-4762-8648-4C4E24F9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809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isk-name">
            <a:extLst xmlns:a="http://schemas.openxmlformats.org/drawingml/2006/main">
              <a:ext uri="{FF2B5EF4-FFF2-40B4-BE49-F238E27FC236}">
                <a16:creationId xmlns:a16="http://schemas.microsoft.com/office/drawing/2014/main" id="{50BCC3E8-C355-412B-859B-3DF170FC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FÍSICO</a:t>
            </a:r>
          </a:p>
        </p:txBody>
      </p:sp>
      <p:sp>
        <p:nvSpPr>
          <p:cNvPr id="12" name="risk-agent">
            <a:extLst xmlns:a="http://schemas.openxmlformats.org/drawingml/2006/main">
              <a:ext uri="{FF2B5EF4-FFF2-40B4-BE49-F238E27FC236}">
                <a16:creationId xmlns:a16="http://schemas.microsoft.com/office/drawing/2014/main" id="{30B44F76-90C5-4E93-9104-9AB63B38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478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72A"/>
                </a:solidFill>
              </a:defRPr>
            </a:pPr>
            <a:r>
              <a:rPr sz="1500" b="1">
                <a:solidFill>
                  <a:srgbClr val="16372A"/>
                </a:solidFill>
              </a:rPr>
              <a:t>[Ex.: ruído]</a:t>
            </a:r>
          </a:p>
        </p:txBody>
      </p:sp>
      <p:sp>
        <p:nvSpPr>
          <p:cNvPr id="13" name="risk-scope">
            <a:extLst xmlns:a="http://schemas.openxmlformats.org/drawingml/2006/main">
              <a:ext uri="{FF2B5EF4-FFF2-40B4-BE49-F238E27FC236}">
                <a16:creationId xmlns:a16="http://schemas.microsoft.com/office/drawing/2014/main" id="{EB9463CE-1CBA-4142-AD87-AB3AE6C6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478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76B"/>
                </a:solidFill>
              </a:defRPr>
            </a:pPr>
            <a:r>
              <a:rPr sz="1350" b="0">
                <a:solidFill>
                  <a:srgbClr val="60776B"/>
                </a:solidFill>
              </a:rPr>
              <a:t>[Setores/funções]</a:t>
            </a:r>
          </a:p>
        </p:txBody>
      </p:sp>
      <p:sp>
        <p:nvSpPr>
          <p:cNvPr id="14" name="risk-row">
            <a:extLst xmlns:a="http://schemas.openxmlformats.org/drawingml/2006/main">
              <a:ext uri="{FF2B5EF4-FFF2-40B4-BE49-F238E27FC236}">
                <a16:creationId xmlns:a16="http://schemas.microsoft.com/office/drawing/2014/main" id="{696EA91C-F28B-4FD8-B53B-6640474C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4298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5" name="risk-type">
            <a:extLst xmlns:a="http://schemas.openxmlformats.org/drawingml/2006/main">
              <a:ext uri="{FF2B5EF4-FFF2-40B4-BE49-F238E27FC236}">
                <a16:creationId xmlns:a16="http://schemas.microsoft.com/office/drawing/2014/main" id="{1B4BE3C8-B06D-4D31-928F-3862E069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809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isk-name">
            <a:extLst xmlns:a="http://schemas.openxmlformats.org/drawingml/2006/main">
              <a:ext uri="{FF2B5EF4-FFF2-40B4-BE49-F238E27FC236}">
                <a16:creationId xmlns:a16="http://schemas.microsoft.com/office/drawing/2014/main" id="{4570E58F-6FE6-4949-A48D-5C03E10B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QUÍMICO</a:t>
            </a:r>
          </a:p>
        </p:txBody>
      </p:sp>
      <p:sp>
        <p:nvSpPr>
          <p:cNvPr id="17" name="risk-agent">
            <a:extLst xmlns:a="http://schemas.openxmlformats.org/drawingml/2006/main">
              <a:ext uri="{FF2B5EF4-FFF2-40B4-BE49-F238E27FC236}">
                <a16:creationId xmlns:a16="http://schemas.microsoft.com/office/drawing/2014/main" id="{2151CEC0-F1C3-4D80-BE40-9BA569E6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860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72A"/>
                </a:solidFill>
              </a:defRPr>
            </a:pPr>
            <a:r>
              <a:rPr sz="1500" b="1">
                <a:solidFill>
                  <a:srgbClr val="16372A"/>
                </a:solidFill>
              </a:rPr>
              <a:t>[Agente]</a:t>
            </a:r>
          </a:p>
        </p:txBody>
      </p:sp>
      <p:sp>
        <p:nvSpPr>
          <p:cNvPr id="18" name="risk-scope">
            <a:extLst xmlns:a="http://schemas.openxmlformats.org/drawingml/2006/main">
              <a:ext uri="{FF2B5EF4-FFF2-40B4-BE49-F238E27FC236}">
                <a16:creationId xmlns:a16="http://schemas.microsoft.com/office/drawing/2014/main" id="{223D8339-AB63-46E4-A2FF-E5C03BA1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860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76B"/>
                </a:solidFill>
              </a:defRPr>
            </a:pPr>
            <a:r>
              <a:rPr sz="1350" b="0">
                <a:solidFill>
                  <a:srgbClr val="60776B"/>
                </a:solidFill>
              </a:rPr>
              <a:t>[Setores/funções]</a:t>
            </a:r>
          </a:p>
        </p:txBody>
      </p:sp>
      <p:sp>
        <p:nvSpPr>
          <p:cNvPr id="19" name="risk-row">
            <a:extLst xmlns:a="http://schemas.openxmlformats.org/drawingml/2006/main">
              <a:ext uri="{FF2B5EF4-FFF2-40B4-BE49-F238E27FC236}">
                <a16:creationId xmlns:a16="http://schemas.microsoft.com/office/drawing/2014/main" id="{4ADDBB74-BF44-45E1-854A-7944B20C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4298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0" name="risk-type">
            <a:extLst xmlns:a="http://schemas.openxmlformats.org/drawingml/2006/main">
              <a:ext uri="{FF2B5EF4-FFF2-40B4-BE49-F238E27FC236}">
                <a16:creationId xmlns:a16="http://schemas.microsoft.com/office/drawing/2014/main" id="{DCB2CCEB-AAC6-440C-BE22-59D84928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809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9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isk-name">
            <a:extLst xmlns:a="http://schemas.openxmlformats.org/drawingml/2006/main">
              <a:ext uri="{FF2B5EF4-FFF2-40B4-BE49-F238E27FC236}">
                <a16:creationId xmlns:a16="http://schemas.microsoft.com/office/drawing/2014/main" id="{C79BD399-B765-4317-B4B2-B942ECD7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BIOLÓGICO</a:t>
            </a:r>
          </a:p>
        </p:txBody>
      </p:sp>
      <p:sp>
        <p:nvSpPr>
          <p:cNvPr id="22" name="risk-agent">
            <a:extLst xmlns:a="http://schemas.openxmlformats.org/drawingml/2006/main">
              <a:ext uri="{FF2B5EF4-FFF2-40B4-BE49-F238E27FC236}">
                <a16:creationId xmlns:a16="http://schemas.microsoft.com/office/drawing/2014/main" id="{88BB65D5-BD58-4AD8-8F7B-680A429D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242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72A"/>
                </a:solidFill>
              </a:defRPr>
            </a:pPr>
            <a:r>
              <a:rPr sz="1500" b="1">
                <a:solidFill>
                  <a:srgbClr val="16372A"/>
                </a:solidFill>
              </a:rPr>
              <a:t>[Agente]</a:t>
            </a:r>
          </a:p>
        </p:txBody>
      </p:sp>
      <p:sp>
        <p:nvSpPr>
          <p:cNvPr id="23" name="risk-scope">
            <a:extLst xmlns:a="http://schemas.openxmlformats.org/drawingml/2006/main">
              <a:ext uri="{FF2B5EF4-FFF2-40B4-BE49-F238E27FC236}">
                <a16:creationId xmlns:a16="http://schemas.microsoft.com/office/drawing/2014/main" id="{24B22355-408A-48F8-8045-6C908A86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242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76B"/>
                </a:solidFill>
              </a:defRPr>
            </a:pPr>
            <a:r>
              <a:rPr sz="1350" b="0">
                <a:solidFill>
                  <a:srgbClr val="60776B"/>
                </a:solidFill>
              </a:rPr>
              <a:t>[Setores/funções]</a:t>
            </a:r>
          </a:p>
        </p:txBody>
      </p:sp>
      <p:sp>
        <p:nvSpPr>
          <p:cNvPr id="24" name="risk-row">
            <a:extLst xmlns:a="http://schemas.openxmlformats.org/drawingml/2006/main">
              <a:ext uri="{FF2B5EF4-FFF2-40B4-BE49-F238E27FC236}">
                <a16:creationId xmlns:a16="http://schemas.microsoft.com/office/drawing/2014/main" id="{315522BA-EA4D-4CF0-A00A-2B110E15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04298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5" name="risk-type">
            <a:extLst xmlns:a="http://schemas.openxmlformats.org/drawingml/2006/main">
              <a:ext uri="{FF2B5EF4-FFF2-40B4-BE49-F238E27FC236}">
                <a16:creationId xmlns:a16="http://schemas.microsoft.com/office/drawing/2014/main" id="{C9A057AB-458E-45ED-9A08-FF426519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809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isk-name">
            <a:extLst xmlns:a="http://schemas.openxmlformats.org/drawingml/2006/main">
              <a:ext uri="{FF2B5EF4-FFF2-40B4-BE49-F238E27FC236}">
                <a16:creationId xmlns:a16="http://schemas.microsoft.com/office/drawing/2014/main" id="{3186DC7B-8D19-4B2B-BEC7-C196790A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ERGONÔMICO</a:t>
            </a:r>
          </a:p>
        </p:txBody>
      </p:sp>
      <p:sp>
        <p:nvSpPr>
          <p:cNvPr id="27" name="risk-agent">
            <a:extLst xmlns:a="http://schemas.openxmlformats.org/drawingml/2006/main">
              <a:ext uri="{FF2B5EF4-FFF2-40B4-BE49-F238E27FC236}">
                <a16:creationId xmlns:a16="http://schemas.microsoft.com/office/drawing/2014/main" id="{A43A79F9-513F-4A2F-91A8-7CF655E1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624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72A"/>
                </a:solidFill>
              </a:defRPr>
            </a:pPr>
            <a:r>
              <a:rPr sz="1500" b="1">
                <a:solidFill>
                  <a:srgbClr val="16372A"/>
                </a:solidFill>
              </a:rPr>
              <a:t>[Condição]</a:t>
            </a:r>
          </a:p>
        </p:txBody>
      </p:sp>
      <p:sp>
        <p:nvSpPr>
          <p:cNvPr id="28" name="risk-scope">
            <a:extLst xmlns:a="http://schemas.openxmlformats.org/drawingml/2006/main">
              <a:ext uri="{FF2B5EF4-FFF2-40B4-BE49-F238E27FC236}">
                <a16:creationId xmlns:a16="http://schemas.microsoft.com/office/drawing/2014/main" id="{70EFEC68-98A2-4B64-9BEA-AE3911C1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624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76B"/>
                </a:solidFill>
              </a:defRPr>
            </a:pPr>
            <a:r>
              <a:rPr sz="1350" b="0">
                <a:solidFill>
                  <a:srgbClr val="60776B"/>
                </a:solidFill>
              </a:rPr>
              <a:t>[Setores/funções]</a:t>
            </a:r>
          </a:p>
        </p:txBody>
      </p:sp>
      <p:sp>
        <p:nvSpPr>
          <p:cNvPr id="29" name="risk-row">
            <a:extLst xmlns:a="http://schemas.openxmlformats.org/drawingml/2006/main">
              <a:ext uri="{FF2B5EF4-FFF2-40B4-BE49-F238E27FC236}">
                <a16:creationId xmlns:a16="http://schemas.microsoft.com/office/drawing/2014/main" id="{526A3D98-545B-402B-8AA1-B5D67EDE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104298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30" name="risk-type">
            <a:extLst xmlns:a="http://schemas.openxmlformats.org/drawingml/2006/main">
              <a:ext uri="{FF2B5EF4-FFF2-40B4-BE49-F238E27FC236}">
                <a16:creationId xmlns:a16="http://schemas.microsoft.com/office/drawing/2014/main" id="{E50D1C54-055E-4500-9AD2-2863E9FB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1809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isk-name">
            <a:extLst xmlns:a="http://schemas.openxmlformats.org/drawingml/2006/main">
              <a:ext uri="{FF2B5EF4-FFF2-40B4-BE49-F238E27FC236}">
                <a16:creationId xmlns:a16="http://schemas.microsoft.com/office/drawing/2014/main" id="{DB536840-6D81-4D5B-AEE1-075DDEBE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ACIDENTE</a:t>
            </a:r>
          </a:p>
        </p:txBody>
      </p:sp>
      <p:sp>
        <p:nvSpPr>
          <p:cNvPr id="32" name="risk-agent">
            <a:extLst xmlns:a="http://schemas.openxmlformats.org/drawingml/2006/main">
              <a:ext uri="{FF2B5EF4-FFF2-40B4-BE49-F238E27FC236}">
                <a16:creationId xmlns:a16="http://schemas.microsoft.com/office/drawing/2014/main" id="{45457538-A352-40C1-BE29-72D43580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00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72A"/>
                </a:solidFill>
              </a:defRPr>
            </a:pPr>
            <a:r>
              <a:rPr sz="1500" b="1">
                <a:solidFill>
                  <a:srgbClr val="16372A"/>
                </a:solidFill>
              </a:rPr>
              <a:t>[Condição]</a:t>
            </a:r>
          </a:p>
        </p:txBody>
      </p:sp>
      <p:sp>
        <p:nvSpPr>
          <p:cNvPr id="33" name="risk-scope">
            <a:extLst xmlns:a="http://schemas.openxmlformats.org/drawingml/2006/main">
              <a:ext uri="{FF2B5EF4-FFF2-40B4-BE49-F238E27FC236}">
                <a16:creationId xmlns:a16="http://schemas.microsoft.com/office/drawing/2014/main" id="{47816C93-51A1-4A73-A7F6-7854A60A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00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76B"/>
                </a:solidFill>
              </a:defRPr>
            </a:pPr>
            <a:r>
              <a:rPr sz="1350" b="0">
                <a:solidFill>
                  <a:srgbClr val="60776B"/>
                </a:solidFill>
              </a:rPr>
              <a:t>[Setores/funções]</a:t>
            </a:r>
          </a:p>
        </p:txBody>
      </p:sp>
      <p:sp>
        <p:nvSpPr>
          <p:cNvPr id="34" name="risk-note">
            <a:extLst xmlns:a="http://schemas.openxmlformats.org/drawingml/2006/main">
              <a:ext uri="{FF2B5EF4-FFF2-40B4-BE49-F238E27FC236}">
                <a16:creationId xmlns:a16="http://schemas.microsoft.com/office/drawing/2014/main" id="{E1CBF465-ED9A-4546-BD36-98E1384D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Classificação e medidas devem reproduzir as conclusões dos documentos técnicos vigentes.</a:t>
            </a:r>
          </a:p>
        </p:txBody>
      </p:sp>
    </p:spTree>
    <p:extLst>
      <p:ext uri="{BB962C8B-B14F-4D97-AF65-F5344CB8AC3E}">
        <p14:creationId xmlns:p14="http://schemas.microsoft.com/office/powerpoint/2010/main" val="1795204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top-accent">
            <a:extLst xmlns:a="http://schemas.openxmlformats.org/drawingml/2006/main">
              <a:ext uri="{FF2B5EF4-FFF2-40B4-BE49-F238E27FC236}">
                <a16:creationId xmlns:a16="http://schemas.microsoft.com/office/drawing/2014/main" id="{537A201D-519C-4497-93AE-7783A3DB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1EB55AD-632A-428D-A485-42BE2DDA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A4B"/>
                </a:solidFill>
              </a:defRPr>
            </a:pPr>
            <a:r>
              <a:rPr sz="1050" b="1">
                <a:solidFill>
                  <a:srgbClr val="0B7A4B"/>
                </a:solidFill>
              </a:rPr>
              <a:t>DEVOLUTIVA EXECUTIVA DE SST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515123-D960-4AD3-9A6A-6B1FE0CB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4B32"/>
                </a:solidFill>
              </a:defRPr>
            </a:pPr>
            <a:r>
              <a:rPr sz="2475" b="1">
                <a:solidFill>
                  <a:srgbClr val="074B32"/>
                </a:solidFill>
              </a:rPr>
              <a:t>Cada função exige uma leitura própria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A51FEE6-89E5-444E-BD8F-51BC9871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76B"/>
                </a:solidFill>
              </a:defRPr>
            </a:pPr>
            <a:r>
              <a:rPr sz="1125" b="1">
                <a:solidFill>
                  <a:srgbClr val="60776B"/>
                </a:solidFill>
              </a:rPr>
              <a:t>07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6E49AFE-92F6-4851-A388-C8747DE1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7C4C7A2-5DE4-40A0-BAB0-D712088A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6B"/>
                </a:solidFill>
              </a:defRPr>
            </a:pPr>
            <a:r>
              <a:rPr sz="900" b="0">
                <a:solidFill>
                  <a:srgbClr val="60776B"/>
                </a:solidFill>
              </a:rPr>
              <a:t>[NOME DA EMPRESA]  •  [MÊS/ANO]</a:t>
            </a:r>
          </a:p>
        </p:txBody>
      </p:sp>
      <p:sp>
        <p:nvSpPr>
          <p:cNvPr id="7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B0A4343A-10FE-4949-9C30-FD9041B9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8" name="logo-text">
            <a:extLst xmlns:a="http://schemas.openxmlformats.org/drawingml/2006/main">
              <a:ext uri="{FF2B5EF4-FFF2-40B4-BE49-F238E27FC236}">
                <a16:creationId xmlns:a16="http://schemas.microsoft.com/office/drawing/2014/main" id="{0E7954E8-7D48-48FA-872B-A03D3936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  <p:sp>
        <p:nvSpPr>
          <p:cNvPr id="9" name="th">
            <a:extLst xmlns:a="http://schemas.openxmlformats.org/drawingml/2006/main">
              <a:ext uri="{FF2B5EF4-FFF2-40B4-BE49-F238E27FC236}">
                <a16:creationId xmlns:a16="http://schemas.microsoft.com/office/drawing/2014/main" id="{E80DAB80-C280-4A5F-BA6F-20961F17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247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ht">
            <a:extLst xmlns:a="http://schemas.openxmlformats.org/drawingml/2006/main">
              <a:ext uri="{FF2B5EF4-FFF2-40B4-BE49-F238E27FC236}">
                <a16:creationId xmlns:a16="http://schemas.microsoft.com/office/drawing/2014/main" id="{DE35290D-39D2-4096-9AF1-8E7D35AE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FUNÇÃO</a:t>
            </a:r>
          </a:p>
        </p:txBody>
      </p:sp>
      <p:sp>
        <p:nvSpPr>
          <p:cNvPr id="11" name="th">
            <a:extLst xmlns:a="http://schemas.openxmlformats.org/drawingml/2006/main">
              <a:ext uri="{FF2B5EF4-FFF2-40B4-BE49-F238E27FC236}">
                <a16:creationId xmlns:a16="http://schemas.microsoft.com/office/drawing/2014/main" id="{0B43B857-4DDE-4DDE-A1CA-E26F3471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04950"/>
            <a:ext cx="1866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ht">
            <a:extLst xmlns:a="http://schemas.openxmlformats.org/drawingml/2006/main">
              <a:ext uri="{FF2B5EF4-FFF2-40B4-BE49-F238E27FC236}">
                <a16:creationId xmlns:a16="http://schemas.microsoft.com/office/drawing/2014/main" id="{C6A2474A-8075-4205-B84B-6D91182A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811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RISCO PRINCIPAL</a:t>
            </a:r>
          </a:p>
        </p:txBody>
      </p:sp>
      <p:sp>
        <p:nvSpPr>
          <p:cNvPr id="13" name="th">
            <a:extLst xmlns:a="http://schemas.openxmlformats.org/drawingml/2006/main">
              <a:ext uri="{FF2B5EF4-FFF2-40B4-BE49-F238E27FC236}">
                <a16:creationId xmlns:a16="http://schemas.microsoft.com/office/drawing/2014/main" id="{E803C725-FC0A-41FF-84E0-B6A430B8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04950"/>
            <a:ext cx="21526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ht">
            <a:extLst xmlns:a="http://schemas.openxmlformats.org/drawingml/2006/main">
              <a:ext uri="{FF2B5EF4-FFF2-40B4-BE49-F238E27FC236}">
                <a16:creationId xmlns:a16="http://schemas.microsoft.com/office/drawing/2014/main" id="{80B4763A-B1DC-4981-A9FF-403CEDDF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811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EXAMES</a:t>
            </a:r>
          </a:p>
        </p:txBody>
      </p:sp>
      <p:sp>
        <p:nvSpPr>
          <p:cNvPr id="15" name="th">
            <a:extLst xmlns:a="http://schemas.openxmlformats.org/drawingml/2006/main">
              <a:ext uri="{FF2B5EF4-FFF2-40B4-BE49-F238E27FC236}">
                <a16:creationId xmlns:a16="http://schemas.microsoft.com/office/drawing/2014/main" id="{4BF99143-12DE-4E6F-9053-A1139326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04950"/>
            <a:ext cx="21050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ht">
            <a:extLst xmlns:a="http://schemas.openxmlformats.org/drawingml/2006/main">
              <a:ext uri="{FF2B5EF4-FFF2-40B4-BE49-F238E27FC236}">
                <a16:creationId xmlns:a16="http://schemas.microsoft.com/office/drawing/2014/main" id="{CCD57FD4-358C-49D3-9A7B-B3364622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81150"/>
            <a:ext cx="1914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INSALUBRIDADE</a:t>
            </a:r>
          </a:p>
        </p:txBody>
      </p:sp>
      <p:sp>
        <p:nvSpPr>
          <p:cNvPr id="17" name="th">
            <a:extLst xmlns:a="http://schemas.openxmlformats.org/drawingml/2006/main">
              <a:ext uri="{FF2B5EF4-FFF2-40B4-BE49-F238E27FC236}">
                <a16:creationId xmlns:a16="http://schemas.microsoft.com/office/drawing/2014/main" id="{BD31C696-C3EA-4C73-B5A2-82CD7DA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04950"/>
            <a:ext cx="1866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ht">
            <a:extLst xmlns:a="http://schemas.openxmlformats.org/drawingml/2006/main">
              <a:ext uri="{FF2B5EF4-FFF2-40B4-BE49-F238E27FC236}">
                <a16:creationId xmlns:a16="http://schemas.microsoft.com/office/drawing/2014/main" id="{5D73A020-FC3F-424C-9B78-AC006CA3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811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PREVIDENCIÁRIO</a:t>
            </a:r>
          </a:p>
        </p:txBody>
      </p:sp>
      <p:sp>
        <p:nvSpPr>
          <p:cNvPr id="19" name="cell">
            <a:extLst xmlns:a="http://schemas.openxmlformats.org/drawingml/2006/main">
              <a:ext uri="{FF2B5EF4-FFF2-40B4-BE49-F238E27FC236}">
                <a16:creationId xmlns:a16="http://schemas.microsoft.com/office/drawing/2014/main" id="{492C80DE-5253-4373-BC34-CD4EB09D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247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0" name="celltxt">
            <a:extLst xmlns:a="http://schemas.openxmlformats.org/drawingml/2006/main">
              <a:ext uri="{FF2B5EF4-FFF2-40B4-BE49-F238E27FC236}">
                <a16:creationId xmlns:a16="http://schemas.microsoft.com/office/drawing/2014/main" id="{E7090E5F-E979-4309-8C55-2E8B88B9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72A"/>
                </a:solidFill>
              </a:defRPr>
            </a:pPr>
            <a:r>
              <a:rPr sz="1275" b="1">
                <a:solidFill>
                  <a:srgbClr val="16372A"/>
                </a:solidFill>
              </a:rPr>
              <a:t>[Função 01]</a:t>
            </a:r>
          </a:p>
        </p:txBody>
      </p:sp>
      <p:sp>
        <p:nvSpPr>
          <p:cNvPr id="21" name="cell">
            <a:extLst xmlns:a="http://schemas.openxmlformats.org/drawingml/2006/main">
              <a:ext uri="{FF2B5EF4-FFF2-40B4-BE49-F238E27FC236}">
                <a16:creationId xmlns:a16="http://schemas.microsoft.com/office/drawing/2014/main" id="{B485A1E0-3FBF-4F25-8BEA-9CCCC638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86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2" name="celltxt">
            <a:extLst xmlns:a="http://schemas.openxmlformats.org/drawingml/2006/main">
              <a:ext uri="{FF2B5EF4-FFF2-40B4-BE49-F238E27FC236}">
                <a16:creationId xmlns:a16="http://schemas.microsoft.com/office/drawing/2014/main" id="{66748BA7-FA82-4F52-A4BF-E9EA661C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43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[Risco]</a:t>
            </a:r>
          </a:p>
        </p:txBody>
      </p:sp>
      <p:sp>
        <p:nvSpPr>
          <p:cNvPr id="23" name="cell">
            <a:extLst xmlns:a="http://schemas.openxmlformats.org/drawingml/2006/main">
              <a:ext uri="{FF2B5EF4-FFF2-40B4-BE49-F238E27FC236}">
                <a16:creationId xmlns:a16="http://schemas.microsoft.com/office/drawing/2014/main" id="{CB5ADA04-4187-4BB0-986B-EC8E7C71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57400"/>
            <a:ext cx="2152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4" name="celltxt">
            <a:extLst xmlns:a="http://schemas.openxmlformats.org/drawingml/2006/main">
              <a:ext uri="{FF2B5EF4-FFF2-40B4-BE49-F238E27FC236}">
                <a16:creationId xmlns:a16="http://schemas.microsoft.com/office/drawing/2014/main" id="{F43B0BDF-6C87-41DF-BFDC-BF3950ED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431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[Exames]</a:t>
            </a:r>
          </a:p>
        </p:txBody>
      </p:sp>
      <p:sp>
        <p:nvSpPr>
          <p:cNvPr id="25" name="cell">
            <a:extLst xmlns:a="http://schemas.openxmlformats.org/drawingml/2006/main">
              <a:ext uri="{FF2B5EF4-FFF2-40B4-BE49-F238E27FC236}">
                <a16:creationId xmlns:a16="http://schemas.microsoft.com/office/drawing/2014/main" id="{12CB51B5-E1A3-45F1-B326-EB4F59A9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57400"/>
            <a:ext cx="21050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6" name="celltxt">
            <a:extLst xmlns:a="http://schemas.openxmlformats.org/drawingml/2006/main">
              <a:ext uri="{FF2B5EF4-FFF2-40B4-BE49-F238E27FC236}">
                <a16:creationId xmlns:a16="http://schemas.microsoft.com/office/drawing/2014/main" id="{8407CE27-9070-4235-AB58-8B9B67B6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43125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[Sim/Não]</a:t>
            </a:r>
          </a:p>
        </p:txBody>
      </p:sp>
      <p:sp>
        <p:nvSpPr>
          <p:cNvPr id="27" name="cell">
            <a:extLst xmlns:a="http://schemas.openxmlformats.org/drawingml/2006/main">
              <a:ext uri="{FF2B5EF4-FFF2-40B4-BE49-F238E27FC236}">
                <a16:creationId xmlns:a16="http://schemas.microsoft.com/office/drawing/2014/main" id="{741B159F-7AA7-4D3A-B2D3-A3E94EC1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57400"/>
            <a:ext cx="186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8" name="celltxt">
            <a:extLst xmlns:a="http://schemas.openxmlformats.org/drawingml/2006/main">
              <a:ext uri="{FF2B5EF4-FFF2-40B4-BE49-F238E27FC236}">
                <a16:creationId xmlns:a16="http://schemas.microsoft.com/office/drawing/2014/main" id="{C052522A-1045-465C-8817-17DFF037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43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[Exposição]</a:t>
            </a:r>
          </a:p>
        </p:txBody>
      </p:sp>
      <p:sp>
        <p:nvSpPr>
          <p:cNvPr id="29" name="cell">
            <a:extLst xmlns:a="http://schemas.openxmlformats.org/drawingml/2006/main">
              <a:ext uri="{FF2B5EF4-FFF2-40B4-BE49-F238E27FC236}">
                <a16:creationId xmlns:a16="http://schemas.microsoft.com/office/drawing/2014/main" id="{3D05542E-D957-44EA-8FB8-227557E3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247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30" name="celltxt">
            <a:extLst xmlns:a="http://schemas.openxmlformats.org/drawingml/2006/main">
              <a:ext uri="{FF2B5EF4-FFF2-40B4-BE49-F238E27FC236}">
                <a16:creationId xmlns:a16="http://schemas.microsoft.com/office/drawing/2014/main" id="{B44C7B3C-DC37-4125-A54A-3F72865D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72A"/>
                </a:solidFill>
              </a:defRPr>
            </a:pPr>
            <a:r>
              <a:rPr sz="1275" b="1">
                <a:solidFill>
                  <a:srgbClr val="16372A"/>
                </a:solidFill>
              </a:rPr>
              <a:t>[Função 02]</a:t>
            </a:r>
          </a:p>
        </p:txBody>
      </p:sp>
      <p:sp>
        <p:nvSpPr>
          <p:cNvPr id="31" name="cell">
            <a:extLst xmlns:a="http://schemas.openxmlformats.org/drawingml/2006/main">
              <a:ext uri="{FF2B5EF4-FFF2-40B4-BE49-F238E27FC236}">
                <a16:creationId xmlns:a16="http://schemas.microsoft.com/office/drawing/2014/main" id="{EDEC451E-1DCC-41D6-8507-5FCBFF9D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186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32" name="celltxt">
            <a:extLst xmlns:a="http://schemas.openxmlformats.org/drawingml/2006/main">
              <a:ext uri="{FF2B5EF4-FFF2-40B4-BE49-F238E27FC236}">
                <a16:creationId xmlns:a16="http://schemas.microsoft.com/office/drawing/2014/main" id="{49608534-5EBB-4A7A-800E-516C0384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289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[Risco]</a:t>
            </a:r>
          </a:p>
        </p:txBody>
      </p:sp>
      <p:sp>
        <p:nvSpPr>
          <p:cNvPr id="33" name="cell">
            <a:extLst xmlns:a="http://schemas.openxmlformats.org/drawingml/2006/main">
              <a:ext uri="{FF2B5EF4-FFF2-40B4-BE49-F238E27FC236}">
                <a16:creationId xmlns:a16="http://schemas.microsoft.com/office/drawing/2014/main" id="{0F83441E-45BB-4DF3-BE6B-04011539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43200"/>
            <a:ext cx="2152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34" name="celltxt">
            <a:extLst xmlns:a="http://schemas.openxmlformats.org/drawingml/2006/main">
              <a:ext uri="{FF2B5EF4-FFF2-40B4-BE49-F238E27FC236}">
                <a16:creationId xmlns:a16="http://schemas.microsoft.com/office/drawing/2014/main" id="{AF6CECC4-73AD-4511-BB2F-E823F4CA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289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[Exames]</a:t>
            </a:r>
          </a:p>
        </p:txBody>
      </p:sp>
      <p:sp>
        <p:nvSpPr>
          <p:cNvPr id="35" name="cell">
            <a:extLst xmlns:a="http://schemas.openxmlformats.org/drawingml/2006/main">
              <a:ext uri="{FF2B5EF4-FFF2-40B4-BE49-F238E27FC236}">
                <a16:creationId xmlns:a16="http://schemas.microsoft.com/office/drawing/2014/main" id="{93093CA6-21AD-466D-9F81-661BA590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21050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36" name="celltxt">
            <a:extLst xmlns:a="http://schemas.openxmlformats.org/drawingml/2006/main">
              <a:ext uri="{FF2B5EF4-FFF2-40B4-BE49-F238E27FC236}">
                <a16:creationId xmlns:a16="http://schemas.microsoft.com/office/drawing/2014/main" id="{9E8A932D-8960-4BCA-8727-37D767F1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28925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[Sim/Não]</a:t>
            </a:r>
          </a:p>
        </p:txBody>
      </p:sp>
      <p:sp>
        <p:nvSpPr>
          <p:cNvPr id="37" name="cell">
            <a:extLst xmlns:a="http://schemas.openxmlformats.org/drawingml/2006/main">
              <a:ext uri="{FF2B5EF4-FFF2-40B4-BE49-F238E27FC236}">
                <a16:creationId xmlns:a16="http://schemas.microsoft.com/office/drawing/2014/main" id="{980B2198-1BD9-4A87-AA30-3791B34E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43200"/>
            <a:ext cx="186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38" name="celltxt">
            <a:extLst xmlns:a="http://schemas.openxmlformats.org/drawingml/2006/main">
              <a:ext uri="{FF2B5EF4-FFF2-40B4-BE49-F238E27FC236}">
                <a16:creationId xmlns:a16="http://schemas.microsoft.com/office/drawing/2014/main" id="{B415BC6A-CB52-4D32-99CD-5689C635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289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[Exposição]</a:t>
            </a:r>
          </a:p>
        </p:txBody>
      </p:sp>
      <p:sp>
        <p:nvSpPr>
          <p:cNvPr id="39" name="cell">
            <a:extLst xmlns:a="http://schemas.openxmlformats.org/drawingml/2006/main">
              <a:ext uri="{FF2B5EF4-FFF2-40B4-BE49-F238E27FC236}">
                <a16:creationId xmlns:a16="http://schemas.microsoft.com/office/drawing/2014/main" id="{1F6294E9-971F-459A-99BC-F4963BD0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247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40" name="celltxt">
            <a:extLst xmlns:a="http://schemas.openxmlformats.org/drawingml/2006/main">
              <a:ext uri="{FF2B5EF4-FFF2-40B4-BE49-F238E27FC236}">
                <a16:creationId xmlns:a16="http://schemas.microsoft.com/office/drawing/2014/main" id="{34E54CAF-FE23-46C9-91F3-9DC136F9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72A"/>
                </a:solidFill>
              </a:defRPr>
            </a:pPr>
            <a:r>
              <a:rPr sz="1275" b="1">
                <a:solidFill>
                  <a:srgbClr val="16372A"/>
                </a:solidFill>
              </a:rPr>
              <a:t>[Função 03]</a:t>
            </a:r>
          </a:p>
        </p:txBody>
      </p:sp>
      <p:sp>
        <p:nvSpPr>
          <p:cNvPr id="41" name="cell">
            <a:extLst xmlns:a="http://schemas.openxmlformats.org/drawingml/2006/main">
              <a:ext uri="{FF2B5EF4-FFF2-40B4-BE49-F238E27FC236}">
                <a16:creationId xmlns:a16="http://schemas.microsoft.com/office/drawing/2014/main" id="{C5CAAA13-C00C-40BF-8D94-2E8FB72E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86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42" name="celltxt">
            <a:extLst xmlns:a="http://schemas.openxmlformats.org/drawingml/2006/main">
              <a:ext uri="{FF2B5EF4-FFF2-40B4-BE49-F238E27FC236}">
                <a16:creationId xmlns:a16="http://schemas.microsoft.com/office/drawing/2014/main" id="{9188F7FC-C00C-4B19-83EB-15E45075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147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[Risco]</a:t>
            </a:r>
          </a:p>
        </p:txBody>
      </p:sp>
      <p:sp>
        <p:nvSpPr>
          <p:cNvPr id="43" name="cell">
            <a:extLst xmlns:a="http://schemas.openxmlformats.org/drawingml/2006/main">
              <a:ext uri="{FF2B5EF4-FFF2-40B4-BE49-F238E27FC236}">
                <a16:creationId xmlns:a16="http://schemas.microsoft.com/office/drawing/2014/main" id="{B5FD6785-0D2B-4701-9852-EE246AE3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29000"/>
            <a:ext cx="2152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44" name="celltxt">
            <a:extLst xmlns:a="http://schemas.openxmlformats.org/drawingml/2006/main">
              <a:ext uri="{FF2B5EF4-FFF2-40B4-BE49-F238E27FC236}">
                <a16:creationId xmlns:a16="http://schemas.microsoft.com/office/drawing/2014/main" id="{47B06FC7-B2D9-46EA-8229-CFF9FF8D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147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[Exames]</a:t>
            </a:r>
          </a:p>
        </p:txBody>
      </p:sp>
      <p:sp>
        <p:nvSpPr>
          <p:cNvPr id="45" name="cell">
            <a:extLst xmlns:a="http://schemas.openxmlformats.org/drawingml/2006/main">
              <a:ext uri="{FF2B5EF4-FFF2-40B4-BE49-F238E27FC236}">
                <a16:creationId xmlns:a16="http://schemas.microsoft.com/office/drawing/2014/main" id="{E9597EAF-C100-471C-9BDE-0493E884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1050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46" name="celltxt">
            <a:extLst xmlns:a="http://schemas.openxmlformats.org/drawingml/2006/main">
              <a:ext uri="{FF2B5EF4-FFF2-40B4-BE49-F238E27FC236}">
                <a16:creationId xmlns:a16="http://schemas.microsoft.com/office/drawing/2014/main" id="{057613D1-B525-44D5-9FA4-AD759ACB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14725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[Sim/Não]</a:t>
            </a:r>
          </a:p>
        </p:txBody>
      </p:sp>
      <p:sp>
        <p:nvSpPr>
          <p:cNvPr id="47" name="cell">
            <a:extLst xmlns:a="http://schemas.openxmlformats.org/drawingml/2006/main">
              <a:ext uri="{FF2B5EF4-FFF2-40B4-BE49-F238E27FC236}">
                <a16:creationId xmlns:a16="http://schemas.microsoft.com/office/drawing/2014/main" id="{C4E61231-C2AE-4940-A123-B9E9F61A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29000"/>
            <a:ext cx="186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48" name="celltxt">
            <a:extLst xmlns:a="http://schemas.openxmlformats.org/drawingml/2006/main">
              <a:ext uri="{FF2B5EF4-FFF2-40B4-BE49-F238E27FC236}">
                <a16:creationId xmlns:a16="http://schemas.microsoft.com/office/drawing/2014/main" id="{DB55B3F0-53C7-4595-8C58-3B53557E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147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[Exposição]</a:t>
            </a:r>
          </a:p>
        </p:txBody>
      </p:sp>
      <p:sp>
        <p:nvSpPr>
          <p:cNvPr id="49" name="cell">
            <a:extLst xmlns:a="http://schemas.openxmlformats.org/drawingml/2006/main">
              <a:ext uri="{FF2B5EF4-FFF2-40B4-BE49-F238E27FC236}">
                <a16:creationId xmlns:a16="http://schemas.microsoft.com/office/drawing/2014/main" id="{1C6DAD5C-BBAC-4B80-9A13-C27034CD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2247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50" name="celltxt">
            <a:extLst xmlns:a="http://schemas.openxmlformats.org/drawingml/2006/main">
              <a:ext uri="{FF2B5EF4-FFF2-40B4-BE49-F238E27FC236}">
                <a16:creationId xmlns:a16="http://schemas.microsoft.com/office/drawing/2014/main" id="{8F4135D6-9F05-47A9-B34B-0F863F1C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72A"/>
                </a:solidFill>
              </a:defRPr>
            </a:pPr>
            <a:r>
              <a:rPr sz="1275" b="1">
                <a:solidFill>
                  <a:srgbClr val="16372A"/>
                </a:solidFill>
              </a:rPr>
              <a:t>[Função 04]</a:t>
            </a:r>
          </a:p>
        </p:txBody>
      </p:sp>
      <p:sp>
        <p:nvSpPr>
          <p:cNvPr id="51" name="cell">
            <a:extLst xmlns:a="http://schemas.openxmlformats.org/drawingml/2006/main">
              <a:ext uri="{FF2B5EF4-FFF2-40B4-BE49-F238E27FC236}">
                <a16:creationId xmlns:a16="http://schemas.microsoft.com/office/drawing/2014/main" id="{EBFB38F3-F5B0-4FEA-91DB-A0458028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14800"/>
            <a:ext cx="186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52" name="celltxt">
            <a:extLst xmlns:a="http://schemas.openxmlformats.org/drawingml/2006/main">
              <a:ext uri="{FF2B5EF4-FFF2-40B4-BE49-F238E27FC236}">
                <a16:creationId xmlns:a16="http://schemas.microsoft.com/office/drawing/2014/main" id="{0521AB1D-57A2-4235-A709-240FCB6C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00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[Risco]</a:t>
            </a:r>
          </a:p>
        </p:txBody>
      </p:sp>
      <p:sp>
        <p:nvSpPr>
          <p:cNvPr id="53" name="cell">
            <a:extLst xmlns:a="http://schemas.openxmlformats.org/drawingml/2006/main">
              <a:ext uri="{FF2B5EF4-FFF2-40B4-BE49-F238E27FC236}">
                <a16:creationId xmlns:a16="http://schemas.microsoft.com/office/drawing/2014/main" id="{E6907530-3290-41A8-8A43-FF61FFB9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14800"/>
            <a:ext cx="2152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54" name="celltxt">
            <a:extLst xmlns:a="http://schemas.openxmlformats.org/drawingml/2006/main">
              <a:ext uri="{FF2B5EF4-FFF2-40B4-BE49-F238E27FC236}">
                <a16:creationId xmlns:a16="http://schemas.microsoft.com/office/drawing/2014/main" id="{E1D028E4-5204-488E-B96A-D36766C7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005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[Exames]</a:t>
            </a:r>
          </a:p>
        </p:txBody>
      </p:sp>
      <p:sp>
        <p:nvSpPr>
          <p:cNvPr id="55" name="cell">
            <a:extLst xmlns:a="http://schemas.openxmlformats.org/drawingml/2006/main">
              <a:ext uri="{FF2B5EF4-FFF2-40B4-BE49-F238E27FC236}">
                <a16:creationId xmlns:a16="http://schemas.microsoft.com/office/drawing/2014/main" id="{D76B2F50-4DA7-4290-935F-9D93F713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14800"/>
            <a:ext cx="21050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56" name="celltxt">
            <a:extLst xmlns:a="http://schemas.openxmlformats.org/drawingml/2006/main">
              <a:ext uri="{FF2B5EF4-FFF2-40B4-BE49-F238E27FC236}">
                <a16:creationId xmlns:a16="http://schemas.microsoft.com/office/drawing/2014/main" id="{F41191F2-7159-445E-B182-EAB66457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00525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[Sim/Não]</a:t>
            </a:r>
          </a:p>
        </p:txBody>
      </p:sp>
      <p:sp>
        <p:nvSpPr>
          <p:cNvPr id="57" name="cell">
            <a:extLst xmlns:a="http://schemas.openxmlformats.org/drawingml/2006/main">
              <a:ext uri="{FF2B5EF4-FFF2-40B4-BE49-F238E27FC236}">
                <a16:creationId xmlns:a16="http://schemas.microsoft.com/office/drawing/2014/main" id="{695D1D6D-A883-4724-AFCB-FA3B0928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14800"/>
            <a:ext cx="186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58" name="celltxt">
            <a:extLst xmlns:a="http://schemas.openxmlformats.org/drawingml/2006/main">
              <a:ext uri="{FF2B5EF4-FFF2-40B4-BE49-F238E27FC236}">
                <a16:creationId xmlns:a16="http://schemas.microsoft.com/office/drawing/2014/main" id="{5666637B-24FA-4EEA-976C-416689DA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00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[Exposição]</a:t>
            </a:r>
          </a:p>
        </p:txBody>
      </p:sp>
      <p:sp>
        <p:nvSpPr>
          <p:cNvPr id="59" name="cell">
            <a:extLst xmlns:a="http://schemas.openxmlformats.org/drawingml/2006/main">
              <a:ext uri="{FF2B5EF4-FFF2-40B4-BE49-F238E27FC236}">
                <a16:creationId xmlns:a16="http://schemas.microsoft.com/office/drawing/2014/main" id="{089DA02B-EAE1-4816-8D14-A53F74CF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2247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60" name="celltxt">
            <a:extLst xmlns:a="http://schemas.openxmlformats.org/drawingml/2006/main">
              <a:ext uri="{FF2B5EF4-FFF2-40B4-BE49-F238E27FC236}">
                <a16:creationId xmlns:a16="http://schemas.microsoft.com/office/drawing/2014/main" id="{F83A4FBB-0F37-4560-91E7-20B3C078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72A"/>
                </a:solidFill>
              </a:defRPr>
            </a:pPr>
            <a:r>
              <a:rPr sz="1275" b="1">
                <a:solidFill>
                  <a:srgbClr val="16372A"/>
                </a:solidFill>
              </a:rPr>
              <a:t>[Função 05]</a:t>
            </a:r>
          </a:p>
        </p:txBody>
      </p:sp>
      <p:sp>
        <p:nvSpPr>
          <p:cNvPr id="61" name="cell">
            <a:extLst xmlns:a="http://schemas.openxmlformats.org/drawingml/2006/main">
              <a:ext uri="{FF2B5EF4-FFF2-40B4-BE49-F238E27FC236}">
                <a16:creationId xmlns:a16="http://schemas.microsoft.com/office/drawing/2014/main" id="{58EC11FD-9087-4E94-9747-CD76E9A1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00600"/>
            <a:ext cx="186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62" name="celltxt">
            <a:extLst xmlns:a="http://schemas.openxmlformats.org/drawingml/2006/main">
              <a:ext uri="{FF2B5EF4-FFF2-40B4-BE49-F238E27FC236}">
                <a16:creationId xmlns:a16="http://schemas.microsoft.com/office/drawing/2014/main" id="{097C75A9-47FA-4FBF-B27E-6F404267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863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[Risco]</a:t>
            </a:r>
          </a:p>
        </p:txBody>
      </p:sp>
      <p:sp>
        <p:nvSpPr>
          <p:cNvPr id="63" name="cell">
            <a:extLst xmlns:a="http://schemas.openxmlformats.org/drawingml/2006/main">
              <a:ext uri="{FF2B5EF4-FFF2-40B4-BE49-F238E27FC236}">
                <a16:creationId xmlns:a16="http://schemas.microsoft.com/office/drawing/2014/main" id="{85C52E8D-6734-4BF7-A3D3-8AA6395C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00600"/>
            <a:ext cx="2152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64" name="celltxt">
            <a:extLst xmlns:a="http://schemas.openxmlformats.org/drawingml/2006/main">
              <a:ext uri="{FF2B5EF4-FFF2-40B4-BE49-F238E27FC236}">
                <a16:creationId xmlns:a16="http://schemas.microsoft.com/office/drawing/2014/main" id="{83939B8E-F3D7-4FD2-9573-F8900940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863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[Exames]</a:t>
            </a:r>
          </a:p>
        </p:txBody>
      </p:sp>
      <p:sp>
        <p:nvSpPr>
          <p:cNvPr id="65" name="cell">
            <a:extLst xmlns:a="http://schemas.openxmlformats.org/drawingml/2006/main">
              <a:ext uri="{FF2B5EF4-FFF2-40B4-BE49-F238E27FC236}">
                <a16:creationId xmlns:a16="http://schemas.microsoft.com/office/drawing/2014/main" id="{43321979-8428-4AFE-9A30-17F28E1E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00600"/>
            <a:ext cx="21050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66" name="celltxt">
            <a:extLst xmlns:a="http://schemas.openxmlformats.org/drawingml/2006/main">
              <a:ext uri="{FF2B5EF4-FFF2-40B4-BE49-F238E27FC236}">
                <a16:creationId xmlns:a16="http://schemas.microsoft.com/office/drawing/2014/main" id="{84B03178-ABD8-4BB2-BC68-032A115C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86325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[Sim/Não]</a:t>
            </a:r>
          </a:p>
        </p:txBody>
      </p:sp>
      <p:sp>
        <p:nvSpPr>
          <p:cNvPr id="67" name="cell">
            <a:extLst xmlns:a="http://schemas.openxmlformats.org/drawingml/2006/main">
              <a:ext uri="{FF2B5EF4-FFF2-40B4-BE49-F238E27FC236}">
                <a16:creationId xmlns:a16="http://schemas.microsoft.com/office/drawing/2014/main" id="{A0BEC1BF-6396-4A82-A16A-3047D907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00600"/>
            <a:ext cx="186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68" name="celltxt">
            <a:extLst xmlns:a="http://schemas.openxmlformats.org/drawingml/2006/main">
              <a:ext uri="{FF2B5EF4-FFF2-40B4-BE49-F238E27FC236}">
                <a16:creationId xmlns:a16="http://schemas.microsoft.com/office/drawing/2014/main" id="{43225C9E-AD5C-49D0-9755-9FDCEC8C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8863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[Exposição]</a:t>
            </a:r>
          </a:p>
        </p:txBody>
      </p:sp>
      <p:sp>
        <p:nvSpPr>
          <p:cNvPr id="69" name="matrix-note">
            <a:extLst xmlns:a="http://schemas.openxmlformats.org/drawingml/2006/main">
              <a:ext uri="{FF2B5EF4-FFF2-40B4-BE49-F238E27FC236}">
                <a16:creationId xmlns:a16="http://schemas.microsoft.com/office/drawing/2014/main" id="{B5D7B5F2-04CB-4AF5-835E-58673F1A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Duplique esta página quando houver mais funções.</a:t>
            </a:r>
          </a:p>
        </p:txBody>
      </p:sp>
    </p:spTree>
    <p:extLst>
      <p:ext uri="{BB962C8B-B14F-4D97-AF65-F5344CB8AC3E}">
        <p14:creationId xmlns:p14="http://schemas.microsoft.com/office/powerpoint/2010/main" val="94534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4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reen-plane">
            <a:extLst xmlns:a="http://schemas.openxmlformats.org/drawingml/2006/main">
              <a:ext uri="{FF2B5EF4-FFF2-40B4-BE49-F238E27FC236}">
                <a16:creationId xmlns:a16="http://schemas.microsoft.com/office/drawing/2014/main" id="{59E2C083-C814-4CAD-923D-63AD95E2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94EE70E-D834-4E2D-8143-AABE0F5A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DF3E5"/>
                </a:solidFill>
              </a:defRPr>
            </a:pPr>
            <a:r>
              <a:rPr sz="4350" b="1">
                <a:solidFill>
                  <a:srgbClr val="DDF3E5"/>
                </a:solidFill>
              </a:rPr>
              <a:t>08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63C859DB-7723-4B19-ADE5-3CAD4652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Saúde ocupacional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A843BE87-2460-4089-9FD8-BDF0A40E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9000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F3E5"/>
                </a:solidFill>
              </a:defRPr>
            </a:pPr>
            <a:r>
              <a:rPr sz="1650" b="0">
                <a:solidFill>
                  <a:srgbClr val="DDF3E5"/>
                </a:solidFill>
              </a:rPr>
              <a:t>Quais exames são necessários e quando devem ser realizados.</a:t>
            </a:r>
          </a:p>
        </p:txBody>
      </p:sp>
      <p:sp>
        <p:nvSpPr>
          <p:cNvPr id="5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E2F7D092-DA25-4757-9A1E-0509075B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102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6" name="logo-text">
            <a:extLst xmlns:a="http://schemas.openxmlformats.org/drawingml/2006/main">
              <a:ext uri="{FF2B5EF4-FFF2-40B4-BE49-F238E27FC236}">
                <a16:creationId xmlns:a16="http://schemas.microsoft.com/office/drawing/2014/main" id="{F47467C2-B34B-4887-B3A3-885B49AD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86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</p:spTree>
    <p:extLst>
      <p:ext uri="{BB962C8B-B14F-4D97-AF65-F5344CB8AC3E}">
        <p14:creationId xmlns:p14="http://schemas.microsoft.com/office/powerpoint/2010/main" val="17413570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1F1BABC-5DD9-4A39-8ECE-0A7721B7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7AB2618-DE37-4BA0-8847-9AD93169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A4B"/>
                </a:solidFill>
              </a:defRPr>
            </a:pPr>
            <a:r>
              <a:rPr sz="1050" b="1">
                <a:solidFill>
                  <a:srgbClr val="0B7A4B"/>
                </a:solidFill>
              </a:rPr>
              <a:t>DEVOLUTIVA EXECUTIVA DE SST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E9FE88-2789-451B-8463-35ED9385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4B32"/>
                </a:solidFill>
              </a:defRPr>
            </a:pPr>
            <a:r>
              <a:rPr sz="2475" b="1">
                <a:solidFill>
                  <a:srgbClr val="074B32"/>
                </a:solidFill>
              </a:rPr>
              <a:t>Os exames devem acompanhar os riscos de cada função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24AF38-C549-49B5-B0FC-5BC79FC0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76B"/>
                </a:solidFill>
              </a:defRPr>
            </a:pPr>
            <a:r>
              <a:rPr sz="1125" b="1">
                <a:solidFill>
                  <a:srgbClr val="60776B"/>
                </a:solidFill>
              </a:rPr>
              <a:t>09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7D3E60B-CE9D-4431-A126-AA522E4F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6C22C61-B612-41A1-B50B-7FD3DF2B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6B"/>
                </a:solidFill>
              </a:defRPr>
            </a:pPr>
            <a:r>
              <a:rPr sz="900" b="0">
                <a:solidFill>
                  <a:srgbClr val="60776B"/>
                </a:solidFill>
              </a:rPr>
              <a:t>[NOME DA EMPRESA]  •  [MÊS/ANO]</a:t>
            </a:r>
          </a:p>
        </p:txBody>
      </p:sp>
      <p:sp>
        <p:nvSpPr>
          <p:cNvPr id="7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60666E8A-10FB-4ED4-9BEC-79FAA419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8" name="logo-text">
            <a:extLst xmlns:a="http://schemas.openxmlformats.org/drawingml/2006/main">
              <a:ext uri="{FF2B5EF4-FFF2-40B4-BE49-F238E27FC236}">
                <a16:creationId xmlns:a16="http://schemas.microsoft.com/office/drawing/2014/main" id="{1E8C7313-AF15-4A62-9070-CF738F41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  <p:sp>
        <p:nvSpPr>
          <p:cNvPr id="9" name="exam">
            <a:extLst xmlns:a="http://schemas.openxmlformats.org/drawingml/2006/main">
              <a:ext uri="{FF2B5EF4-FFF2-40B4-BE49-F238E27FC236}">
                <a16:creationId xmlns:a16="http://schemas.microsoft.com/office/drawing/2014/main" id="{92C93BE3-A3EE-484D-ADC5-BBAE93D9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0" name="exam-top">
            <a:extLst xmlns:a="http://schemas.openxmlformats.org/drawingml/2006/main">
              <a:ext uri="{FF2B5EF4-FFF2-40B4-BE49-F238E27FC236}">
                <a16:creationId xmlns:a16="http://schemas.microsoft.com/office/drawing/2014/main" id="{7BFF4218-CEDA-4F52-A18F-2543466A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xam-role">
            <a:extLst xmlns:a="http://schemas.openxmlformats.org/drawingml/2006/main">
              <a:ext uri="{FF2B5EF4-FFF2-40B4-BE49-F238E27FC236}">
                <a16:creationId xmlns:a16="http://schemas.microsoft.com/office/drawing/2014/main" id="{2FE3C71F-255C-4D0F-9A76-EA96775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[FUNÇÃO 01]</a:t>
            </a:r>
          </a:p>
        </p:txBody>
      </p:sp>
      <p:sp>
        <p:nvSpPr>
          <p:cNvPr id="12" name="exam-list">
            <a:extLst xmlns:a="http://schemas.openxmlformats.org/drawingml/2006/main">
              <a:ext uri="{FF2B5EF4-FFF2-40B4-BE49-F238E27FC236}">
                <a16:creationId xmlns:a16="http://schemas.microsoft.com/office/drawing/2014/main" id="{E2573FD7-4B64-491E-813A-9018104E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705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6372A"/>
                </a:solidFill>
              </a:defRPr>
            </a:pPr>
            <a:r>
              <a:rPr sz="1575" b="0">
                <a:solidFill>
                  <a:srgbClr val="16372A"/>
                </a:solidFill>
              </a:rPr>
              <a:t>Clínico ocupacional</a:t>
            </a:r>
          </a:p>
          <a:p xmlns:a="http://schemas.openxmlformats.org/drawingml/2006/main">
            <a:pPr algn="ctr">
              <a:defRPr sz="1575" b="0">
                <a:solidFill>
                  <a:srgbClr val="16372A"/>
                </a:solidFill>
              </a:defRPr>
            </a:pPr>
            <a:r>
              <a:rPr sz="1575" b="0">
                <a:solidFill>
                  <a:srgbClr val="16372A"/>
                </a:solidFill>
              </a:rPr>
              <a:t>[exame complementar]</a:t>
            </a:r>
          </a:p>
          <a:p xmlns:a="http://schemas.openxmlformats.org/drawingml/2006/main">
            <a:pPr algn="ctr">
              <a:defRPr sz="1575" b="0">
                <a:solidFill>
                  <a:srgbClr val="16372A"/>
                </a:solidFill>
              </a:defRPr>
            </a:pPr>
            <a:r>
              <a:rPr sz="1575" b="0">
                <a:solidFill>
                  <a:srgbClr val="16372A"/>
                </a:solidFill>
              </a:rPr>
              <a:t>[periodicidade]</a:t>
            </a:r>
          </a:p>
        </p:txBody>
      </p:sp>
      <p:sp>
        <p:nvSpPr>
          <p:cNvPr id="13" name="exam">
            <a:extLst xmlns:a="http://schemas.openxmlformats.org/drawingml/2006/main">
              <a:ext uri="{FF2B5EF4-FFF2-40B4-BE49-F238E27FC236}">
                <a16:creationId xmlns:a16="http://schemas.microsoft.com/office/drawing/2014/main" id="{C4EBA6D1-19F5-483F-BB83-49CF5520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4" name="exam-top">
            <a:extLst xmlns:a="http://schemas.openxmlformats.org/drawingml/2006/main">
              <a:ext uri="{FF2B5EF4-FFF2-40B4-BE49-F238E27FC236}">
                <a16:creationId xmlns:a16="http://schemas.microsoft.com/office/drawing/2014/main" id="{B5005B27-8CA7-4A8D-AEA0-4E0070FD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0"/>
            <a:ext cx="3238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xam-role">
            <a:extLst xmlns:a="http://schemas.openxmlformats.org/drawingml/2006/main">
              <a:ext uri="{FF2B5EF4-FFF2-40B4-BE49-F238E27FC236}">
                <a16:creationId xmlns:a16="http://schemas.microsoft.com/office/drawing/2014/main" id="{59898472-518A-4E7C-A7C1-80DFB6E3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[FUNÇÃO 02]</a:t>
            </a:r>
          </a:p>
        </p:txBody>
      </p:sp>
      <p:sp>
        <p:nvSpPr>
          <p:cNvPr id="16" name="exam-list">
            <a:extLst xmlns:a="http://schemas.openxmlformats.org/drawingml/2006/main">
              <a:ext uri="{FF2B5EF4-FFF2-40B4-BE49-F238E27FC236}">
                <a16:creationId xmlns:a16="http://schemas.microsoft.com/office/drawing/2014/main" id="{9EE6BE89-563F-4EF1-92B9-AF399D15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2705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6372A"/>
                </a:solidFill>
              </a:defRPr>
            </a:pPr>
            <a:r>
              <a:rPr sz="1575" b="0">
                <a:solidFill>
                  <a:srgbClr val="16372A"/>
                </a:solidFill>
              </a:rPr>
              <a:t>Clínico ocupacional</a:t>
            </a:r>
          </a:p>
          <a:p xmlns:a="http://schemas.openxmlformats.org/drawingml/2006/main">
            <a:pPr algn="ctr">
              <a:defRPr sz="1575" b="0">
                <a:solidFill>
                  <a:srgbClr val="16372A"/>
                </a:solidFill>
              </a:defRPr>
            </a:pPr>
            <a:r>
              <a:rPr sz="1575" b="0">
                <a:solidFill>
                  <a:srgbClr val="16372A"/>
                </a:solidFill>
              </a:rPr>
              <a:t>[exame complementar]</a:t>
            </a:r>
          </a:p>
          <a:p xmlns:a="http://schemas.openxmlformats.org/drawingml/2006/main">
            <a:pPr algn="ctr">
              <a:defRPr sz="1575" b="0">
                <a:solidFill>
                  <a:srgbClr val="16372A"/>
                </a:solidFill>
              </a:defRPr>
            </a:pPr>
            <a:r>
              <a:rPr sz="1575" b="0">
                <a:solidFill>
                  <a:srgbClr val="16372A"/>
                </a:solidFill>
              </a:rPr>
              <a:t>[periodicidade]</a:t>
            </a:r>
          </a:p>
        </p:txBody>
      </p:sp>
      <p:sp>
        <p:nvSpPr>
          <p:cNvPr id="17" name="exam">
            <a:extLst xmlns:a="http://schemas.openxmlformats.org/drawingml/2006/main">
              <a:ext uri="{FF2B5EF4-FFF2-40B4-BE49-F238E27FC236}">
                <a16:creationId xmlns:a16="http://schemas.microsoft.com/office/drawing/2014/main" id="{BAE2937A-27F6-4459-9FED-D64A5475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8" name="exam-top">
            <a:extLst xmlns:a="http://schemas.openxmlformats.org/drawingml/2006/main">
              <a:ext uri="{FF2B5EF4-FFF2-40B4-BE49-F238E27FC236}">
                <a16:creationId xmlns:a16="http://schemas.microsoft.com/office/drawing/2014/main" id="{F703371C-2677-4F99-9382-14DC5406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238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xam-role">
            <a:extLst xmlns:a="http://schemas.openxmlformats.org/drawingml/2006/main">
              <a:ext uri="{FF2B5EF4-FFF2-40B4-BE49-F238E27FC236}">
                <a16:creationId xmlns:a16="http://schemas.microsoft.com/office/drawing/2014/main" id="{D010E925-F273-46FE-AEA7-4232CD2A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[FUNÇÃO 03]</a:t>
            </a:r>
          </a:p>
        </p:txBody>
      </p:sp>
      <p:sp>
        <p:nvSpPr>
          <p:cNvPr id="20" name="exam-list">
            <a:extLst xmlns:a="http://schemas.openxmlformats.org/drawingml/2006/main">
              <a:ext uri="{FF2B5EF4-FFF2-40B4-BE49-F238E27FC236}">
                <a16:creationId xmlns:a16="http://schemas.microsoft.com/office/drawing/2014/main" id="{FF831595-A8F8-4EA7-91F4-C4FD44ED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2705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6372A"/>
                </a:solidFill>
              </a:defRPr>
            </a:pPr>
            <a:r>
              <a:rPr sz="1575" b="0">
                <a:solidFill>
                  <a:srgbClr val="16372A"/>
                </a:solidFill>
              </a:rPr>
              <a:t>Clínico ocupacional</a:t>
            </a:r>
          </a:p>
          <a:p xmlns:a="http://schemas.openxmlformats.org/drawingml/2006/main">
            <a:pPr algn="ctr">
              <a:defRPr sz="1575" b="0">
                <a:solidFill>
                  <a:srgbClr val="16372A"/>
                </a:solidFill>
              </a:defRPr>
            </a:pPr>
            <a:r>
              <a:rPr sz="1575" b="0">
                <a:solidFill>
                  <a:srgbClr val="16372A"/>
                </a:solidFill>
              </a:rPr>
              <a:t>[exame complementar]</a:t>
            </a:r>
          </a:p>
          <a:p xmlns:a="http://schemas.openxmlformats.org/drawingml/2006/main">
            <a:pPr algn="ctr">
              <a:defRPr sz="1575" b="0">
                <a:solidFill>
                  <a:srgbClr val="16372A"/>
                </a:solidFill>
              </a:defRPr>
            </a:pPr>
            <a:r>
              <a:rPr sz="1575" b="0">
                <a:solidFill>
                  <a:srgbClr val="16372A"/>
                </a:solidFill>
              </a:rPr>
              <a:t>[periodicidade]</a:t>
            </a:r>
          </a:p>
        </p:txBody>
      </p:sp>
      <p:sp>
        <p:nvSpPr>
          <p:cNvPr id="21" name="exam-alert">
            <a:extLst xmlns:a="http://schemas.openxmlformats.org/drawingml/2006/main">
              <a:ext uri="{FF2B5EF4-FFF2-40B4-BE49-F238E27FC236}">
                <a16:creationId xmlns:a16="http://schemas.microsoft.com/office/drawing/2014/main" id="{57009525-E81A-4914-A1DE-CAE18DFB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0287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xam-alert-title">
            <a:extLst xmlns:a="http://schemas.openxmlformats.org/drawingml/2006/main">
              <a:ext uri="{FF2B5EF4-FFF2-40B4-BE49-F238E27FC236}">
                <a16:creationId xmlns:a16="http://schemas.microsoft.com/office/drawing/2014/main" id="{7CFF48B6-CA36-4626-B03F-9F4AD8B3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A4B"/>
                </a:solidFill>
              </a:defRPr>
            </a:pPr>
            <a:r>
              <a:rPr sz="1350" b="1">
                <a:solidFill>
                  <a:srgbClr val="0B7A4B"/>
                </a:solidFill>
              </a:rPr>
              <a:t>Ponto de atenção</a:t>
            </a:r>
          </a:p>
        </p:txBody>
      </p:sp>
      <p:sp>
        <p:nvSpPr>
          <p:cNvPr id="23" name="exam-alert-copy">
            <a:extLst xmlns:a="http://schemas.openxmlformats.org/drawingml/2006/main">
              <a:ext uri="{FF2B5EF4-FFF2-40B4-BE49-F238E27FC236}">
                <a16:creationId xmlns:a16="http://schemas.microsoft.com/office/drawing/2014/main" id="{C9657C74-985D-423D-AD3F-8B7F3940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911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72A"/>
                </a:solidFill>
              </a:defRPr>
            </a:pPr>
            <a:r>
              <a:rPr sz="1350" b="0">
                <a:solidFill>
                  <a:srgbClr val="16372A"/>
                </a:solidFill>
              </a:rPr>
              <a:t>[Informe exames vencidos, mudanças necessárias no PCMSO ou medidas de acompanhamento.]</a:t>
            </a:r>
          </a:p>
        </p:txBody>
      </p:sp>
    </p:spTree>
    <p:extLst>
      <p:ext uri="{BB962C8B-B14F-4D97-AF65-F5344CB8AC3E}">
        <p14:creationId xmlns:p14="http://schemas.microsoft.com/office/powerpoint/2010/main" val="18521549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72F7C585-F1A0-4570-B025-5A0BD945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C52D153-AE4D-4049-8998-E1D985A0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A4B"/>
                </a:solidFill>
              </a:defRPr>
            </a:pPr>
            <a:r>
              <a:rPr sz="1050" b="1">
                <a:solidFill>
                  <a:srgbClr val="0B7A4B"/>
                </a:solidFill>
              </a:rPr>
              <a:t>DEVOLUTIVA EXECUTIVA DE SST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7D5CF5-3CCC-4E51-8CA6-DF7BE847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4B32"/>
                </a:solidFill>
              </a:defRPr>
            </a:pPr>
            <a:r>
              <a:rPr sz="2475" b="1">
                <a:solidFill>
                  <a:srgbClr val="074B32"/>
                </a:solidFill>
              </a:rPr>
              <a:t>Insalubridade e exposição previdenciária não são a mesma análise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A7465D-0A85-4587-A19E-DED1DB1D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76B"/>
                </a:solidFill>
              </a:defRPr>
            </a:pPr>
            <a:r>
              <a:rPr sz="1125" b="1">
                <a:solidFill>
                  <a:srgbClr val="60776B"/>
                </a:solidFill>
              </a:rPr>
              <a:t>10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DD7012C-3856-4589-A428-25DB74C8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A5C1C3E-30E1-4472-99E6-A7F86754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6B"/>
                </a:solidFill>
              </a:defRPr>
            </a:pPr>
            <a:r>
              <a:rPr sz="900" b="0">
                <a:solidFill>
                  <a:srgbClr val="60776B"/>
                </a:solidFill>
              </a:rPr>
              <a:t>[NOME DA EMPRESA]  •  [MÊS/ANO]</a:t>
            </a:r>
          </a:p>
        </p:txBody>
      </p:sp>
      <p:sp>
        <p:nvSpPr>
          <p:cNvPr id="7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57B77F1E-F3F2-49FA-89AD-1B3C9E55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8" name="logo-text">
            <a:extLst xmlns:a="http://schemas.openxmlformats.org/drawingml/2006/main">
              <a:ext uri="{FF2B5EF4-FFF2-40B4-BE49-F238E27FC236}">
                <a16:creationId xmlns:a16="http://schemas.microsoft.com/office/drawing/2014/main" id="{ED54FD57-477C-4602-938B-5117BD9B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1DF415C4-0CF6-4296-A3EF-7904C334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0" name="left-k">
            <a:extLst xmlns:a="http://schemas.openxmlformats.org/drawingml/2006/main">
              <a:ext uri="{FF2B5EF4-FFF2-40B4-BE49-F238E27FC236}">
                <a16:creationId xmlns:a16="http://schemas.microsoft.com/office/drawing/2014/main" id="{54B55485-01BA-496F-9B27-67B4D8B3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A4B"/>
                </a:solidFill>
              </a:defRPr>
            </a:pPr>
            <a:r>
              <a:rPr sz="1800" b="1">
                <a:solidFill>
                  <a:srgbClr val="0B7A4B"/>
                </a:solidFill>
              </a:rPr>
              <a:t>INSALUBRIDADE</a:t>
            </a:r>
          </a:p>
        </p:txBody>
      </p:sp>
      <p:sp>
        <p:nvSpPr>
          <p:cNvPr id="11" name="left-copy">
            <a:extLst xmlns:a="http://schemas.openxmlformats.org/drawingml/2006/main">
              <a:ext uri="{FF2B5EF4-FFF2-40B4-BE49-F238E27FC236}">
                <a16:creationId xmlns:a16="http://schemas.microsoft.com/office/drawing/2014/main" id="{C75D76AF-03FE-4FC6-9468-96AE6129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72A"/>
                </a:solidFill>
              </a:defRPr>
            </a:pPr>
            <a:r>
              <a:rPr sz="1500" b="0">
                <a:solidFill>
                  <a:srgbClr val="16372A"/>
                </a:solidFill>
              </a:rPr>
              <a:t>Caracterização técnica conforme o agente, a atividade, a intensidade ou concentração e os critérios aplicáveis.</a:t>
            </a:r>
          </a:p>
        </p:txBody>
      </p:sp>
      <p:sp>
        <p:nvSpPr>
          <p:cNvPr id="12" name="left-result">
            <a:extLst xmlns:a="http://schemas.openxmlformats.org/drawingml/2006/main">
              <a:ext uri="{FF2B5EF4-FFF2-40B4-BE49-F238E27FC236}">
                <a16:creationId xmlns:a16="http://schemas.microsoft.com/office/drawing/2014/main" id="{CE7275F1-91DF-4CF8-A1E1-7FEFE98D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4B32"/>
                </a:solidFill>
              </a:defRPr>
            </a:pPr>
            <a:r>
              <a:rPr sz="1650" b="1">
                <a:solidFill>
                  <a:srgbClr val="074B32"/>
                </a:solidFill>
              </a:rPr>
              <a:t>Conclusão do laudo:</a:t>
            </a:r>
          </a:p>
          <a:p xmlns:a="http://schemas.openxmlformats.org/drawingml/2006/main">
            <a:pPr algn="l">
              <a:defRPr sz="1650" b="1">
                <a:solidFill>
                  <a:srgbClr val="074B32"/>
                </a:solidFill>
              </a:defRPr>
            </a:pPr>
            <a:r>
              <a:rPr sz="1650" b="1">
                <a:solidFill>
                  <a:srgbClr val="074B32"/>
                </a:solidFill>
              </a:rPr>
              <a:t>[funções e enquadramento]</a:t>
            </a:r>
          </a:p>
        </p:txBody>
      </p:sp>
      <p:sp>
        <p:nvSpPr>
          <p:cNvPr id="13" name="right">
            <a:extLst xmlns:a="http://schemas.openxmlformats.org/drawingml/2006/main">
              <a:ext uri="{FF2B5EF4-FFF2-40B4-BE49-F238E27FC236}">
                <a16:creationId xmlns:a16="http://schemas.microsoft.com/office/drawing/2014/main" id="{F8E7554D-A6B3-4641-9812-697BBEC3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ight-k">
            <a:extLst xmlns:a="http://schemas.openxmlformats.org/drawingml/2006/main">
              <a:ext uri="{FF2B5EF4-FFF2-40B4-BE49-F238E27FC236}">
                <a16:creationId xmlns:a16="http://schemas.microsoft.com/office/drawing/2014/main" id="{0358F958-86F7-47A3-84D1-CB389752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DF3E5"/>
                </a:solidFill>
              </a:defRPr>
            </a:pPr>
            <a:r>
              <a:rPr sz="1800" b="1">
                <a:solidFill>
                  <a:srgbClr val="DDF3E5"/>
                </a:solidFill>
              </a:rPr>
              <a:t>EXPOSIÇÃO PREVIDENCIÁRIA</a:t>
            </a:r>
          </a:p>
        </p:txBody>
      </p:sp>
      <p:sp>
        <p:nvSpPr>
          <p:cNvPr id="15" name="right-copy">
            <a:extLst xmlns:a="http://schemas.openxmlformats.org/drawingml/2006/main">
              <a:ext uri="{FF2B5EF4-FFF2-40B4-BE49-F238E27FC236}">
                <a16:creationId xmlns:a16="http://schemas.microsoft.com/office/drawing/2014/main" id="{40B4715D-60E1-4518-BB5C-4752AA10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Registro da exposição no LTCAT, PPP e eSocial, com possível repercussão previdenciária conforme a legislação aplicável.</a:t>
            </a:r>
          </a:p>
        </p:txBody>
      </p:sp>
      <p:sp>
        <p:nvSpPr>
          <p:cNvPr id="16" name="right-result">
            <a:extLst xmlns:a="http://schemas.openxmlformats.org/drawingml/2006/main">
              <a:ext uri="{FF2B5EF4-FFF2-40B4-BE49-F238E27FC236}">
                <a16:creationId xmlns:a16="http://schemas.microsoft.com/office/drawing/2014/main" id="{F559BF22-06FB-45F7-96F6-C8FB888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DF3E5"/>
                </a:solidFill>
              </a:defRPr>
            </a:pPr>
            <a:r>
              <a:rPr sz="1650" b="1">
                <a:solidFill>
                  <a:srgbClr val="DDF3E5"/>
                </a:solidFill>
              </a:rPr>
              <a:t>Conclusão técnica:</a:t>
            </a:r>
          </a:p>
          <a:p xmlns:a="http://schemas.openxmlformats.org/drawingml/2006/main">
            <a:pPr algn="l">
              <a:defRPr sz="1650" b="1">
                <a:solidFill>
                  <a:srgbClr val="DDF3E5"/>
                </a:solidFill>
              </a:defRPr>
            </a:pPr>
            <a:r>
              <a:rPr sz="1650" b="1">
                <a:solidFill>
                  <a:srgbClr val="DDF3E5"/>
                </a:solidFill>
              </a:rPr>
              <a:t>[funções e exposição]</a:t>
            </a:r>
          </a:p>
        </p:txBody>
      </p:sp>
      <p:sp>
        <p:nvSpPr>
          <p:cNvPr id="17" name="legal-note">
            <a:extLst xmlns:a="http://schemas.openxmlformats.org/drawingml/2006/main">
              <a:ext uri="{FF2B5EF4-FFF2-40B4-BE49-F238E27FC236}">
                <a16:creationId xmlns:a16="http://schemas.microsoft.com/office/drawing/2014/main" id="{E92127B4-2010-44EC-9E87-9550150F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6B"/>
                </a:solidFill>
              </a:defRPr>
            </a:pPr>
            <a:r>
              <a:rPr sz="1200" b="0">
                <a:solidFill>
                  <a:srgbClr val="60776B"/>
                </a:solidFill>
              </a:rPr>
              <a:t>Apresente a conclusão dos laudos; evite prometer automaticamente adicional ou benefício previdenciário.</a:t>
            </a:r>
          </a:p>
        </p:txBody>
      </p:sp>
    </p:spTree>
    <p:extLst>
      <p:ext uri="{BB962C8B-B14F-4D97-AF65-F5344CB8AC3E}">
        <p14:creationId xmlns:p14="http://schemas.microsoft.com/office/powerpoint/2010/main" val="6939530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accent">
            <a:extLst xmlns:a="http://schemas.openxmlformats.org/drawingml/2006/main">
              <a:ext uri="{FF2B5EF4-FFF2-40B4-BE49-F238E27FC236}">
                <a16:creationId xmlns:a16="http://schemas.microsoft.com/office/drawing/2014/main" id="{16699AC0-1477-4AAB-BB09-2BC5A550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4444AD1-7F2C-4BC0-9B54-024D3607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A4B"/>
                </a:solidFill>
              </a:defRPr>
            </a:pPr>
            <a:r>
              <a:rPr sz="1050" b="1">
                <a:solidFill>
                  <a:srgbClr val="0B7A4B"/>
                </a:solidFill>
              </a:rPr>
              <a:t>DEVOLUTIVA EXECUTIVA DE SST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6EDC25-8432-406A-8B1E-687D924E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4B32"/>
                </a:solidFill>
              </a:defRPr>
            </a:pPr>
            <a:r>
              <a:rPr sz="2475" b="1">
                <a:solidFill>
                  <a:srgbClr val="074B32"/>
                </a:solidFill>
              </a:rPr>
              <a:t>O controle eficaz segue uma ordem de prioridade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DA2572F-A52D-43A1-A028-8366BD32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76B"/>
                </a:solidFill>
              </a:defRPr>
            </a:pPr>
            <a:r>
              <a:rPr sz="1125" b="1">
                <a:solidFill>
                  <a:srgbClr val="60776B"/>
                </a:solidFill>
              </a:rPr>
              <a:t>11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A560A94-2117-4E4B-B59D-351BF156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27A24BA-8636-4C36-BF68-15AA12D8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6B"/>
                </a:solidFill>
              </a:defRPr>
            </a:pPr>
            <a:r>
              <a:rPr sz="900" b="0">
                <a:solidFill>
                  <a:srgbClr val="60776B"/>
                </a:solidFill>
              </a:rPr>
              <a:t>[NOME DA EMPRESA]  •  [MÊS/ANO]</a:t>
            </a:r>
          </a:p>
        </p:txBody>
      </p:sp>
      <p:sp>
        <p:nvSpPr>
          <p:cNvPr id="7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1F4BADD2-9A26-4A86-A809-E7D20506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8" name="logo-text">
            <a:extLst xmlns:a="http://schemas.openxmlformats.org/drawingml/2006/main">
              <a:ext uri="{FF2B5EF4-FFF2-40B4-BE49-F238E27FC236}">
                <a16:creationId xmlns:a16="http://schemas.microsoft.com/office/drawing/2014/main" id="{A66A70CB-986C-46AB-9E9F-B91E12F6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  <p:sp>
        <p:nvSpPr>
          <p:cNvPr id="9" name="n">
            <a:extLst xmlns:a="http://schemas.openxmlformats.org/drawingml/2006/main">
              <a:ext uri="{FF2B5EF4-FFF2-40B4-BE49-F238E27FC236}">
                <a16:creationId xmlns:a16="http://schemas.microsoft.com/office/drawing/2014/main" id="{B51A79DB-7686-4709-BB11-A49DF828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4B32"/>
                </a:solidFill>
              </a:defRPr>
            </a:pPr>
            <a:r>
              <a:rPr sz="2550" b="1">
                <a:solidFill>
                  <a:srgbClr val="074B32"/>
                </a:solidFill>
              </a:rPr>
              <a:t>1</a:t>
            </a:r>
          </a:p>
        </p:txBody>
      </p:sp>
      <p:sp>
        <p:nvSpPr>
          <p:cNvPr id="10" name="control">
            <a:extLst xmlns:a="http://schemas.openxmlformats.org/drawingml/2006/main">
              <a:ext uri="{FF2B5EF4-FFF2-40B4-BE49-F238E27FC236}">
                <a16:creationId xmlns:a16="http://schemas.microsoft.com/office/drawing/2014/main" id="{76E95B34-4B42-4641-98D5-9107041E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62100"/>
            <a:ext cx="962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1" name="control-head">
            <a:extLst xmlns:a="http://schemas.openxmlformats.org/drawingml/2006/main">
              <a:ext uri="{FF2B5EF4-FFF2-40B4-BE49-F238E27FC236}">
                <a16:creationId xmlns:a16="http://schemas.microsoft.com/office/drawing/2014/main" id="{2926941C-0038-484D-B725-761424EB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573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72A"/>
                </a:solidFill>
              </a:defRPr>
            </a:pPr>
            <a:r>
              <a:rPr sz="1500" b="1">
                <a:solidFill>
                  <a:srgbClr val="16372A"/>
                </a:solidFill>
              </a:rPr>
              <a:t>ELIMINAR OU SUBSTITUIR</a:t>
            </a:r>
          </a:p>
        </p:txBody>
      </p:sp>
      <p:sp>
        <p:nvSpPr>
          <p:cNvPr id="12" name="control-copy">
            <a:extLst xmlns:a="http://schemas.openxmlformats.org/drawingml/2006/main">
              <a:ext uri="{FF2B5EF4-FFF2-40B4-BE49-F238E27FC236}">
                <a16:creationId xmlns:a16="http://schemas.microsoft.com/office/drawing/2014/main" id="{0E8E4A23-164B-4256-A7D4-9AB4F686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0776B"/>
                </a:solidFill>
              </a:defRPr>
            </a:pPr>
            <a:r>
              <a:rPr sz="1425" b="0">
                <a:solidFill>
                  <a:srgbClr val="60776B"/>
                </a:solidFill>
              </a:rPr>
              <a:t>[Medida aplicável]</a:t>
            </a:r>
          </a:p>
        </p:txBody>
      </p:sp>
      <p:sp>
        <p:nvSpPr>
          <p:cNvPr id="13" name="n">
            <a:extLst xmlns:a="http://schemas.openxmlformats.org/drawingml/2006/main">
              <a:ext uri="{FF2B5EF4-FFF2-40B4-BE49-F238E27FC236}">
                <a16:creationId xmlns:a16="http://schemas.microsoft.com/office/drawing/2014/main" id="{F1167698-EB57-4956-BEA7-B49CBDC2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7A4B"/>
                </a:solidFill>
              </a:defRPr>
            </a:pPr>
            <a:r>
              <a:rPr sz="2550" b="1">
                <a:solidFill>
                  <a:srgbClr val="0B7A4B"/>
                </a:solidFill>
              </a:rPr>
              <a:t>2</a:t>
            </a:r>
          </a:p>
        </p:txBody>
      </p:sp>
      <p:sp>
        <p:nvSpPr>
          <p:cNvPr id="14" name="control">
            <a:extLst xmlns:a="http://schemas.openxmlformats.org/drawingml/2006/main">
              <a:ext uri="{FF2B5EF4-FFF2-40B4-BE49-F238E27FC236}">
                <a16:creationId xmlns:a16="http://schemas.microsoft.com/office/drawing/2014/main" id="{1CDAEE03-B8A9-460C-8461-6F6EBF82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52700"/>
            <a:ext cx="962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5" name="control-head">
            <a:extLst xmlns:a="http://schemas.openxmlformats.org/drawingml/2006/main">
              <a:ext uri="{FF2B5EF4-FFF2-40B4-BE49-F238E27FC236}">
                <a16:creationId xmlns:a16="http://schemas.microsoft.com/office/drawing/2014/main" id="{D48FD7DF-1445-454C-B459-85D4ED9F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72A"/>
                </a:solidFill>
              </a:defRPr>
            </a:pPr>
            <a:r>
              <a:rPr sz="1500" b="1">
                <a:solidFill>
                  <a:srgbClr val="16372A"/>
                </a:solidFill>
              </a:rPr>
              <a:t>PROTEÇÃO COLETIVA</a:t>
            </a:r>
          </a:p>
        </p:txBody>
      </p:sp>
      <p:sp>
        <p:nvSpPr>
          <p:cNvPr id="16" name="control-copy">
            <a:extLst xmlns:a="http://schemas.openxmlformats.org/drawingml/2006/main">
              <a:ext uri="{FF2B5EF4-FFF2-40B4-BE49-F238E27FC236}">
                <a16:creationId xmlns:a16="http://schemas.microsoft.com/office/drawing/2014/main" id="{55585CA6-76CE-4585-9513-EB212083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0776B"/>
                </a:solidFill>
              </a:defRPr>
            </a:pPr>
            <a:r>
              <a:rPr sz="1425" b="0">
                <a:solidFill>
                  <a:srgbClr val="60776B"/>
                </a:solidFill>
              </a:rPr>
              <a:t>[EPC / engenharia]</a:t>
            </a:r>
          </a:p>
        </p:txBody>
      </p:sp>
      <p:sp>
        <p:nvSpPr>
          <p:cNvPr id="17" name="n">
            <a:extLst xmlns:a="http://schemas.openxmlformats.org/drawingml/2006/main">
              <a:ext uri="{FF2B5EF4-FFF2-40B4-BE49-F238E27FC236}">
                <a16:creationId xmlns:a16="http://schemas.microsoft.com/office/drawing/2014/main" id="{D7C1A737-ED7B-4647-9A0D-B92B74F7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9A66F"/>
                </a:solidFill>
              </a:defRPr>
            </a:pPr>
            <a:r>
              <a:rPr sz="2550" b="1">
                <a:solidFill>
                  <a:srgbClr val="49A66F"/>
                </a:solidFill>
              </a:rPr>
              <a:t>3</a:t>
            </a:r>
          </a:p>
        </p:txBody>
      </p:sp>
      <p:sp>
        <p:nvSpPr>
          <p:cNvPr id="18" name="control">
            <a:extLst xmlns:a="http://schemas.openxmlformats.org/drawingml/2006/main">
              <a:ext uri="{FF2B5EF4-FFF2-40B4-BE49-F238E27FC236}">
                <a16:creationId xmlns:a16="http://schemas.microsoft.com/office/drawing/2014/main" id="{CF0F83FB-7DAC-4F33-AAAE-9C88816A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962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9" name="control-head">
            <a:extLst xmlns:a="http://schemas.openxmlformats.org/drawingml/2006/main">
              <a:ext uri="{FF2B5EF4-FFF2-40B4-BE49-F238E27FC236}">
                <a16:creationId xmlns:a16="http://schemas.microsoft.com/office/drawing/2014/main" id="{40D033F8-E127-4C32-8D4A-59DE0365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72A"/>
                </a:solidFill>
              </a:defRPr>
            </a:pPr>
            <a:r>
              <a:rPr sz="1500" b="1">
                <a:solidFill>
                  <a:srgbClr val="16372A"/>
                </a:solidFill>
              </a:rPr>
              <a:t>MEDIDA ADMINISTRATIVA</a:t>
            </a:r>
          </a:p>
        </p:txBody>
      </p:sp>
      <p:sp>
        <p:nvSpPr>
          <p:cNvPr id="20" name="control-copy">
            <a:extLst xmlns:a="http://schemas.openxmlformats.org/drawingml/2006/main">
              <a:ext uri="{FF2B5EF4-FFF2-40B4-BE49-F238E27FC236}">
                <a16:creationId xmlns:a16="http://schemas.microsoft.com/office/drawing/2014/main" id="{C8C8809A-E7ED-47E4-9C9D-9CB49765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0776B"/>
                </a:solidFill>
              </a:defRPr>
            </a:pPr>
            <a:r>
              <a:rPr sz="1425" b="0">
                <a:solidFill>
                  <a:srgbClr val="60776B"/>
                </a:solidFill>
              </a:rPr>
              <a:t>[Procedimento / treinamento]</a:t>
            </a:r>
          </a:p>
        </p:txBody>
      </p:sp>
      <p:sp>
        <p:nvSpPr>
          <p:cNvPr id="21" name="n">
            <a:extLst xmlns:a="http://schemas.openxmlformats.org/drawingml/2006/main">
              <a:ext uri="{FF2B5EF4-FFF2-40B4-BE49-F238E27FC236}">
                <a16:creationId xmlns:a16="http://schemas.microsoft.com/office/drawing/2014/main" id="{C1F2CD88-893D-41EC-9BBC-2F7981A8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8A23A"/>
                </a:solidFill>
              </a:defRPr>
            </a:pPr>
            <a:r>
              <a:rPr sz="2550" b="1">
                <a:solidFill>
                  <a:srgbClr val="E8A23A"/>
                </a:solidFill>
              </a:rPr>
              <a:t>4</a:t>
            </a:r>
          </a:p>
        </p:txBody>
      </p:sp>
      <p:sp>
        <p:nvSpPr>
          <p:cNvPr id="22" name="control">
            <a:extLst xmlns:a="http://schemas.openxmlformats.org/drawingml/2006/main">
              <a:ext uri="{FF2B5EF4-FFF2-40B4-BE49-F238E27FC236}">
                <a16:creationId xmlns:a16="http://schemas.microsoft.com/office/drawing/2014/main" id="{376B3FB9-E6BF-4B93-8A57-D66FF14C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62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3" name="control-head">
            <a:extLst xmlns:a="http://schemas.openxmlformats.org/drawingml/2006/main">
              <a:ext uri="{FF2B5EF4-FFF2-40B4-BE49-F238E27FC236}">
                <a16:creationId xmlns:a16="http://schemas.microsoft.com/office/drawing/2014/main" id="{717614D4-C9C4-4975-B95E-ABC4AA3A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72A"/>
                </a:solidFill>
              </a:defRPr>
            </a:pPr>
            <a:r>
              <a:rPr sz="1500" b="1">
                <a:solidFill>
                  <a:srgbClr val="16372A"/>
                </a:solidFill>
              </a:rPr>
              <a:t>PROTEÇÃO INDIVIDUAL</a:t>
            </a:r>
          </a:p>
        </p:txBody>
      </p:sp>
      <p:sp>
        <p:nvSpPr>
          <p:cNvPr id="24" name="control-copy">
            <a:extLst xmlns:a="http://schemas.openxmlformats.org/drawingml/2006/main">
              <a:ext uri="{FF2B5EF4-FFF2-40B4-BE49-F238E27FC236}">
                <a16:creationId xmlns:a16="http://schemas.microsoft.com/office/drawing/2014/main" id="{649F5407-9CDD-40B6-9A10-A32E5156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291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0776B"/>
                </a:solidFill>
              </a:defRPr>
            </a:pPr>
            <a:r>
              <a:rPr sz="1425" b="0">
                <a:solidFill>
                  <a:srgbClr val="60776B"/>
                </a:solidFill>
              </a:rPr>
              <a:t>[EPI e gestão de uso]</a:t>
            </a:r>
          </a:p>
        </p:txBody>
      </p:sp>
      <p:sp>
        <p:nvSpPr>
          <p:cNvPr id="25" name="control-note">
            <a:extLst xmlns:a="http://schemas.openxmlformats.org/drawingml/2006/main">
              <a:ext uri="{FF2B5EF4-FFF2-40B4-BE49-F238E27FC236}">
                <a16:creationId xmlns:a16="http://schemas.microsoft.com/office/drawing/2014/main" id="{ADC7D6BD-1DC0-4D20-A137-C601D3D3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76B"/>
                </a:solidFill>
              </a:defRPr>
            </a:pPr>
            <a:r>
              <a:rPr sz="1125" b="0">
                <a:solidFill>
                  <a:srgbClr val="60776B"/>
                </a:solidFill>
              </a:rPr>
              <a:t>O EPI complementa o controle; sempre que possível, priorize medidas que atuem na fonte ou no ambiente.</a:t>
            </a:r>
          </a:p>
        </p:txBody>
      </p:sp>
    </p:spTree>
    <p:extLst>
      <p:ext uri="{BB962C8B-B14F-4D97-AF65-F5344CB8AC3E}">
        <p14:creationId xmlns:p14="http://schemas.microsoft.com/office/powerpoint/2010/main" val="19045679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4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reen-plane">
            <a:extLst xmlns:a="http://schemas.openxmlformats.org/drawingml/2006/main">
              <a:ext uri="{FF2B5EF4-FFF2-40B4-BE49-F238E27FC236}">
                <a16:creationId xmlns:a16="http://schemas.microsoft.com/office/drawing/2014/main" id="{DDCFB0E8-53CD-4F36-BEBA-1763F070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4B9AE5C-214C-4B44-BF3B-BE279E8D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DF3E5"/>
                </a:solidFill>
              </a:defRPr>
            </a:pPr>
            <a:r>
              <a:rPr sz="4350" b="1">
                <a:solidFill>
                  <a:srgbClr val="DDF3E5"/>
                </a:solidFill>
              </a:rPr>
              <a:t>12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6780B8E5-EF1A-411A-BCB6-B6C94775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Plano de ação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63F7F095-DE1B-4A23-A543-4481DB96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9000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F3E5"/>
                </a:solidFill>
              </a:defRPr>
            </a:pPr>
            <a:r>
              <a:rPr sz="1650" b="0">
                <a:solidFill>
                  <a:srgbClr val="DDF3E5"/>
                </a:solidFill>
              </a:rPr>
              <a:t>Prioridades claras, responsáveis definidos e acompanhamento.</a:t>
            </a:r>
          </a:p>
        </p:txBody>
      </p:sp>
      <p:sp>
        <p:nvSpPr>
          <p:cNvPr id="5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A27F2010-F7A1-417E-ABCE-57E2B161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102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6" name="logo-text">
            <a:extLst xmlns:a="http://schemas.openxmlformats.org/drawingml/2006/main">
              <a:ext uri="{FF2B5EF4-FFF2-40B4-BE49-F238E27FC236}">
                <a16:creationId xmlns:a16="http://schemas.microsoft.com/office/drawing/2014/main" id="{DD1AD430-4F1C-41CA-B835-B99AFD8E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86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</p:spTree>
    <p:extLst>
      <p:ext uri="{BB962C8B-B14F-4D97-AF65-F5344CB8AC3E}">
        <p14:creationId xmlns:p14="http://schemas.microsoft.com/office/powerpoint/2010/main" val="1326414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top-accent">
            <a:extLst xmlns:a="http://schemas.openxmlformats.org/drawingml/2006/main">
              <a:ext uri="{FF2B5EF4-FFF2-40B4-BE49-F238E27FC236}">
                <a16:creationId xmlns:a16="http://schemas.microsoft.com/office/drawing/2014/main" id="{912093E7-F1A3-4775-9C06-A41DFE61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023933A-4D80-422F-9445-AEECB10B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A4B"/>
                </a:solidFill>
              </a:defRPr>
            </a:pPr>
            <a:r>
              <a:rPr sz="1050" b="1">
                <a:solidFill>
                  <a:srgbClr val="0B7A4B"/>
                </a:solidFill>
              </a:rPr>
              <a:t>DEVOLUTIVA EXECUTIVA DE SST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58BCED-1336-4B01-B846-26528F1C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4B32"/>
                </a:solidFill>
              </a:defRPr>
            </a:pPr>
            <a:r>
              <a:rPr sz="2475" b="1">
                <a:solidFill>
                  <a:srgbClr val="074B32"/>
                </a:solidFill>
              </a:rPr>
              <a:t>As ações estão organizadas por urgência e impacto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F762964-A2E4-45A3-89D5-8BB10C74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76B"/>
                </a:solidFill>
              </a:defRPr>
            </a:pPr>
            <a:r>
              <a:rPr sz="1125" b="1">
                <a:solidFill>
                  <a:srgbClr val="60776B"/>
                </a:solidFill>
              </a:rPr>
              <a:t>13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7583FC3-AB2C-4F71-8668-8452E784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562038B-8808-4910-B33D-F60AE698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6B"/>
                </a:solidFill>
              </a:defRPr>
            </a:pPr>
            <a:r>
              <a:rPr sz="900" b="0">
                <a:solidFill>
                  <a:srgbClr val="60776B"/>
                </a:solidFill>
              </a:rPr>
              <a:t>[NOME DA EMPRESA]  •  [MÊS/ANO]</a:t>
            </a:r>
          </a:p>
        </p:txBody>
      </p:sp>
      <p:sp>
        <p:nvSpPr>
          <p:cNvPr id="7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F8A71414-F646-44E1-8C55-74D6B278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8" name="logo-text">
            <a:extLst xmlns:a="http://schemas.openxmlformats.org/drawingml/2006/main">
              <a:ext uri="{FF2B5EF4-FFF2-40B4-BE49-F238E27FC236}">
                <a16:creationId xmlns:a16="http://schemas.microsoft.com/office/drawing/2014/main" id="{8ECF0048-776E-430B-8DAA-2A0E9D7C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  <p:sp>
        <p:nvSpPr>
          <p:cNvPr id="9" name="ath">
            <a:extLst xmlns:a="http://schemas.openxmlformats.org/drawingml/2006/main">
              <a:ext uri="{FF2B5EF4-FFF2-40B4-BE49-F238E27FC236}">
                <a16:creationId xmlns:a16="http://schemas.microsoft.com/office/drawing/2014/main" id="{D2261968-4A6C-4695-8F49-A52E8A2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7715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tht">
            <a:extLst xmlns:a="http://schemas.openxmlformats.org/drawingml/2006/main">
              <a:ext uri="{FF2B5EF4-FFF2-40B4-BE49-F238E27FC236}">
                <a16:creationId xmlns:a16="http://schemas.microsoft.com/office/drawing/2014/main" id="{3927E052-D166-4D3B-BEC6-8F8AD4D4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71625"/>
            <a:ext cx="638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NÍVEL</a:t>
            </a:r>
          </a:p>
        </p:txBody>
      </p:sp>
      <p:sp>
        <p:nvSpPr>
          <p:cNvPr id="11" name="ath">
            <a:extLst xmlns:a="http://schemas.openxmlformats.org/drawingml/2006/main">
              <a:ext uri="{FF2B5EF4-FFF2-40B4-BE49-F238E27FC236}">
                <a16:creationId xmlns:a16="http://schemas.microsoft.com/office/drawing/2014/main" id="{EAF4EA98-2042-4FE8-BA92-F0A7D3BB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04950"/>
            <a:ext cx="37242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tht">
            <a:extLst xmlns:a="http://schemas.openxmlformats.org/drawingml/2006/main">
              <a:ext uri="{FF2B5EF4-FFF2-40B4-BE49-F238E27FC236}">
                <a16:creationId xmlns:a16="http://schemas.microsoft.com/office/drawing/2014/main" id="{2F91C579-2256-4585-B426-A83E74A9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71625"/>
            <a:ext cx="3590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AÇÃO RECOMENDADA</a:t>
            </a:r>
          </a:p>
        </p:txBody>
      </p:sp>
      <p:sp>
        <p:nvSpPr>
          <p:cNvPr id="13" name="ath">
            <a:extLst xmlns:a="http://schemas.openxmlformats.org/drawingml/2006/main">
              <a:ext uri="{FF2B5EF4-FFF2-40B4-BE49-F238E27FC236}">
                <a16:creationId xmlns:a16="http://schemas.microsoft.com/office/drawing/2014/main" id="{6A0DFA6A-53A2-4BED-A21C-33C5DE2D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04950"/>
            <a:ext cx="22479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tht">
            <a:extLst xmlns:a="http://schemas.openxmlformats.org/drawingml/2006/main">
              <a:ext uri="{FF2B5EF4-FFF2-40B4-BE49-F238E27FC236}">
                <a16:creationId xmlns:a16="http://schemas.microsoft.com/office/drawing/2014/main" id="{0D88EBB0-27AA-492B-8FA1-58E6D68B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5716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RESPONSÁVEL</a:t>
            </a:r>
          </a:p>
        </p:txBody>
      </p:sp>
      <p:sp>
        <p:nvSpPr>
          <p:cNvPr id="15" name="ath">
            <a:extLst xmlns:a="http://schemas.openxmlformats.org/drawingml/2006/main">
              <a:ext uri="{FF2B5EF4-FFF2-40B4-BE49-F238E27FC236}">
                <a16:creationId xmlns:a16="http://schemas.microsoft.com/office/drawing/2014/main" id="{C547FEC7-4051-400B-950D-6EB242F9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17716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tht">
            <a:extLst xmlns:a="http://schemas.openxmlformats.org/drawingml/2006/main">
              <a:ext uri="{FF2B5EF4-FFF2-40B4-BE49-F238E27FC236}">
                <a16:creationId xmlns:a16="http://schemas.microsoft.com/office/drawing/2014/main" id="{B7E0DA2C-74F2-4290-B650-63BA9EAF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57162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EVIDÊNCIA</a:t>
            </a:r>
          </a:p>
        </p:txBody>
      </p:sp>
      <p:sp>
        <p:nvSpPr>
          <p:cNvPr id="17" name="ath">
            <a:extLst xmlns:a="http://schemas.openxmlformats.org/drawingml/2006/main">
              <a:ext uri="{FF2B5EF4-FFF2-40B4-BE49-F238E27FC236}">
                <a16:creationId xmlns:a16="http://schemas.microsoft.com/office/drawing/2014/main" id="{88AA3A60-1EB0-4BA8-8BF5-C1E6FE9E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04950"/>
            <a:ext cx="17240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tht">
            <a:extLst xmlns:a="http://schemas.openxmlformats.org/drawingml/2006/main">
              <a:ext uri="{FF2B5EF4-FFF2-40B4-BE49-F238E27FC236}">
                <a16:creationId xmlns:a16="http://schemas.microsoft.com/office/drawing/2014/main" id="{74F9314B-D3F6-4FE0-8F66-7D06CF2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571625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STATUS</a:t>
            </a:r>
          </a:p>
        </p:txBody>
      </p:sp>
      <p:sp>
        <p:nvSpPr>
          <p:cNvPr id="19" name="acell">
            <a:extLst xmlns:a="http://schemas.openxmlformats.org/drawingml/2006/main">
              <a:ext uri="{FF2B5EF4-FFF2-40B4-BE49-F238E27FC236}">
                <a16:creationId xmlns:a16="http://schemas.microsoft.com/office/drawing/2014/main" id="{07255A34-AF6E-4535-830D-86744226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7715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cellt">
            <a:extLst xmlns:a="http://schemas.openxmlformats.org/drawingml/2006/main">
              <a:ext uri="{FF2B5EF4-FFF2-40B4-BE49-F238E27FC236}">
                <a16:creationId xmlns:a16="http://schemas.microsoft.com/office/drawing/2014/main" id="{4840E44F-010B-4A24-8BA0-5099767D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33600"/>
            <a:ext cx="638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ALTA</a:t>
            </a:r>
          </a:p>
        </p:txBody>
      </p:sp>
      <p:sp>
        <p:nvSpPr>
          <p:cNvPr id="21" name="acell">
            <a:extLst xmlns:a="http://schemas.openxmlformats.org/drawingml/2006/main">
              <a:ext uri="{FF2B5EF4-FFF2-40B4-BE49-F238E27FC236}">
                <a16:creationId xmlns:a16="http://schemas.microsoft.com/office/drawing/2014/main" id="{87389A78-A83F-4F4E-8123-E60A99C2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38350"/>
            <a:ext cx="37242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2" name="acellt">
            <a:extLst xmlns:a="http://schemas.openxmlformats.org/drawingml/2006/main">
              <a:ext uri="{FF2B5EF4-FFF2-40B4-BE49-F238E27FC236}">
                <a16:creationId xmlns:a16="http://schemas.microsoft.com/office/drawing/2014/main" id="{93C13F2E-98E6-4569-B6BB-D6F2DC9B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33600"/>
            <a:ext cx="3590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72A"/>
                </a:solidFill>
              </a:defRPr>
            </a:pPr>
            <a:r>
              <a:rPr sz="1200" b="1">
                <a:solidFill>
                  <a:srgbClr val="16372A"/>
                </a:solidFill>
              </a:rPr>
              <a:t>[Ação crítica 01]</a:t>
            </a:r>
          </a:p>
        </p:txBody>
      </p:sp>
      <p:sp>
        <p:nvSpPr>
          <p:cNvPr id="23" name="acell">
            <a:extLst xmlns:a="http://schemas.openxmlformats.org/drawingml/2006/main">
              <a:ext uri="{FF2B5EF4-FFF2-40B4-BE49-F238E27FC236}">
                <a16:creationId xmlns:a16="http://schemas.microsoft.com/office/drawing/2014/main" id="{F41A5F1E-5D9F-4FE8-9822-D693D71F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38350"/>
            <a:ext cx="2247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4" name="acellt">
            <a:extLst xmlns:a="http://schemas.openxmlformats.org/drawingml/2006/main">
              <a:ext uri="{FF2B5EF4-FFF2-40B4-BE49-F238E27FC236}">
                <a16:creationId xmlns:a16="http://schemas.microsoft.com/office/drawing/2014/main" id="{B83F242E-040B-402E-BCDB-86D9E6CC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336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[Nome/setor]</a:t>
            </a:r>
          </a:p>
        </p:txBody>
      </p:sp>
      <p:sp>
        <p:nvSpPr>
          <p:cNvPr id="25" name="acell">
            <a:extLst xmlns:a="http://schemas.openxmlformats.org/drawingml/2006/main">
              <a:ext uri="{FF2B5EF4-FFF2-40B4-BE49-F238E27FC236}">
                <a16:creationId xmlns:a16="http://schemas.microsoft.com/office/drawing/2014/main" id="{2A9C5D73-DB35-4104-83D2-5EDC9A84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1771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6" name="acellt">
            <a:extLst xmlns:a="http://schemas.openxmlformats.org/drawingml/2006/main">
              <a:ext uri="{FF2B5EF4-FFF2-40B4-BE49-F238E27FC236}">
                <a16:creationId xmlns:a16="http://schemas.microsoft.com/office/drawing/2014/main" id="{ACFB2749-5777-4053-8FEE-00C8EE09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3360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[Evidência]</a:t>
            </a:r>
          </a:p>
        </p:txBody>
      </p:sp>
      <p:sp>
        <p:nvSpPr>
          <p:cNvPr id="27" name="acell">
            <a:extLst xmlns:a="http://schemas.openxmlformats.org/drawingml/2006/main">
              <a:ext uri="{FF2B5EF4-FFF2-40B4-BE49-F238E27FC236}">
                <a16:creationId xmlns:a16="http://schemas.microsoft.com/office/drawing/2014/main" id="{678F27E7-32D3-4CC1-A708-F50AA71C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8350"/>
            <a:ext cx="17240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28" name="acellt">
            <a:extLst xmlns:a="http://schemas.openxmlformats.org/drawingml/2006/main">
              <a:ext uri="{FF2B5EF4-FFF2-40B4-BE49-F238E27FC236}">
                <a16:creationId xmlns:a16="http://schemas.microsoft.com/office/drawing/2014/main" id="{EB33CBF1-C534-474D-B146-0836704D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33600"/>
            <a:ext cx="1590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[Aberta]</a:t>
            </a:r>
          </a:p>
        </p:txBody>
      </p:sp>
      <p:sp>
        <p:nvSpPr>
          <p:cNvPr id="29" name="acell">
            <a:extLst xmlns:a="http://schemas.openxmlformats.org/drawingml/2006/main">
              <a:ext uri="{FF2B5EF4-FFF2-40B4-BE49-F238E27FC236}">
                <a16:creationId xmlns:a16="http://schemas.microsoft.com/office/drawing/2014/main" id="{C1730010-D435-4800-B9D3-88EAA50A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7715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cellt">
            <a:extLst xmlns:a="http://schemas.openxmlformats.org/drawingml/2006/main">
              <a:ext uri="{FF2B5EF4-FFF2-40B4-BE49-F238E27FC236}">
                <a16:creationId xmlns:a16="http://schemas.microsoft.com/office/drawing/2014/main" id="{B2139D01-B301-42A8-B8E8-DB969941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19400"/>
            <a:ext cx="638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ALTA</a:t>
            </a:r>
          </a:p>
        </p:txBody>
      </p:sp>
      <p:sp>
        <p:nvSpPr>
          <p:cNvPr id="31" name="acell">
            <a:extLst xmlns:a="http://schemas.openxmlformats.org/drawingml/2006/main">
              <a:ext uri="{FF2B5EF4-FFF2-40B4-BE49-F238E27FC236}">
                <a16:creationId xmlns:a16="http://schemas.microsoft.com/office/drawing/2014/main" id="{6C823172-D67B-4F59-BBCE-BF3F931E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24150"/>
            <a:ext cx="37242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32" name="acellt">
            <a:extLst xmlns:a="http://schemas.openxmlformats.org/drawingml/2006/main">
              <a:ext uri="{FF2B5EF4-FFF2-40B4-BE49-F238E27FC236}">
                <a16:creationId xmlns:a16="http://schemas.microsoft.com/office/drawing/2014/main" id="{B1F527BA-C76D-4652-AED6-1A003398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19400"/>
            <a:ext cx="3590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72A"/>
                </a:solidFill>
              </a:defRPr>
            </a:pPr>
            <a:r>
              <a:rPr sz="1200" b="1">
                <a:solidFill>
                  <a:srgbClr val="16372A"/>
                </a:solidFill>
              </a:rPr>
              <a:t>[Ação crítica 02]</a:t>
            </a:r>
          </a:p>
        </p:txBody>
      </p:sp>
      <p:sp>
        <p:nvSpPr>
          <p:cNvPr id="33" name="acell">
            <a:extLst xmlns:a="http://schemas.openxmlformats.org/drawingml/2006/main">
              <a:ext uri="{FF2B5EF4-FFF2-40B4-BE49-F238E27FC236}">
                <a16:creationId xmlns:a16="http://schemas.microsoft.com/office/drawing/2014/main" id="{780BC74D-9751-4B2D-A6E7-75CECA6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2247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34" name="acellt">
            <a:extLst xmlns:a="http://schemas.openxmlformats.org/drawingml/2006/main">
              <a:ext uri="{FF2B5EF4-FFF2-40B4-BE49-F238E27FC236}">
                <a16:creationId xmlns:a16="http://schemas.microsoft.com/office/drawing/2014/main" id="{0E5849F5-1114-4251-A03F-2D0B796B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194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[Nome/setor]</a:t>
            </a:r>
          </a:p>
        </p:txBody>
      </p:sp>
      <p:sp>
        <p:nvSpPr>
          <p:cNvPr id="35" name="acell">
            <a:extLst xmlns:a="http://schemas.openxmlformats.org/drawingml/2006/main">
              <a:ext uri="{FF2B5EF4-FFF2-40B4-BE49-F238E27FC236}">
                <a16:creationId xmlns:a16="http://schemas.microsoft.com/office/drawing/2014/main" id="{32CA0D75-C4FF-4D04-BC3A-2451D0E2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1771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36" name="acellt">
            <a:extLst xmlns:a="http://schemas.openxmlformats.org/drawingml/2006/main">
              <a:ext uri="{FF2B5EF4-FFF2-40B4-BE49-F238E27FC236}">
                <a16:creationId xmlns:a16="http://schemas.microsoft.com/office/drawing/2014/main" id="{FE9C9337-7CE2-47FA-9B5D-C19B4A77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81940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[Evidência]</a:t>
            </a:r>
          </a:p>
        </p:txBody>
      </p:sp>
      <p:sp>
        <p:nvSpPr>
          <p:cNvPr id="37" name="acell">
            <a:extLst xmlns:a="http://schemas.openxmlformats.org/drawingml/2006/main">
              <a:ext uri="{FF2B5EF4-FFF2-40B4-BE49-F238E27FC236}">
                <a16:creationId xmlns:a16="http://schemas.microsoft.com/office/drawing/2014/main" id="{8B11CE8D-5B6E-401A-B870-15CC2AAB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17240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38" name="acellt">
            <a:extLst xmlns:a="http://schemas.openxmlformats.org/drawingml/2006/main">
              <a:ext uri="{FF2B5EF4-FFF2-40B4-BE49-F238E27FC236}">
                <a16:creationId xmlns:a16="http://schemas.microsoft.com/office/drawing/2014/main" id="{DEF2C9B6-E4D2-4642-B5BC-6E2B1CB7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19400"/>
            <a:ext cx="1590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[Aberta]</a:t>
            </a:r>
          </a:p>
        </p:txBody>
      </p:sp>
      <p:sp>
        <p:nvSpPr>
          <p:cNvPr id="39" name="acell">
            <a:extLst xmlns:a="http://schemas.openxmlformats.org/drawingml/2006/main">
              <a:ext uri="{FF2B5EF4-FFF2-40B4-BE49-F238E27FC236}">
                <a16:creationId xmlns:a16="http://schemas.microsoft.com/office/drawing/2014/main" id="{45044B38-9E53-4D06-9125-2C4F21FC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7715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acellt">
            <a:extLst xmlns:a="http://schemas.openxmlformats.org/drawingml/2006/main">
              <a:ext uri="{FF2B5EF4-FFF2-40B4-BE49-F238E27FC236}">
                <a16:creationId xmlns:a16="http://schemas.microsoft.com/office/drawing/2014/main" id="{C232D581-BA62-44FB-BE1A-7FD0CACC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05200"/>
            <a:ext cx="638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MÉDIA</a:t>
            </a:r>
          </a:p>
        </p:txBody>
      </p:sp>
      <p:sp>
        <p:nvSpPr>
          <p:cNvPr id="41" name="acell">
            <a:extLst xmlns:a="http://schemas.openxmlformats.org/drawingml/2006/main">
              <a:ext uri="{FF2B5EF4-FFF2-40B4-BE49-F238E27FC236}">
                <a16:creationId xmlns:a16="http://schemas.microsoft.com/office/drawing/2014/main" id="{24E44FA4-D165-4C8F-A11F-ED5A1E0A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09950"/>
            <a:ext cx="37242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42" name="acellt">
            <a:extLst xmlns:a="http://schemas.openxmlformats.org/drawingml/2006/main">
              <a:ext uri="{FF2B5EF4-FFF2-40B4-BE49-F238E27FC236}">
                <a16:creationId xmlns:a16="http://schemas.microsoft.com/office/drawing/2014/main" id="{EBC2EDCB-C77F-4784-A0E8-C155AF96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05200"/>
            <a:ext cx="3590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72A"/>
                </a:solidFill>
              </a:defRPr>
            </a:pPr>
            <a:r>
              <a:rPr sz="1200" b="1">
                <a:solidFill>
                  <a:srgbClr val="16372A"/>
                </a:solidFill>
              </a:rPr>
              <a:t>[Ação planejada 03]</a:t>
            </a:r>
          </a:p>
        </p:txBody>
      </p:sp>
      <p:sp>
        <p:nvSpPr>
          <p:cNvPr id="43" name="acell">
            <a:extLst xmlns:a="http://schemas.openxmlformats.org/drawingml/2006/main">
              <a:ext uri="{FF2B5EF4-FFF2-40B4-BE49-F238E27FC236}">
                <a16:creationId xmlns:a16="http://schemas.microsoft.com/office/drawing/2014/main" id="{D3081471-9919-4646-879C-C3C9EC24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09950"/>
            <a:ext cx="2247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44" name="acellt">
            <a:extLst xmlns:a="http://schemas.openxmlformats.org/drawingml/2006/main">
              <a:ext uri="{FF2B5EF4-FFF2-40B4-BE49-F238E27FC236}">
                <a16:creationId xmlns:a16="http://schemas.microsoft.com/office/drawing/2014/main" id="{5EE13F63-D157-4D3E-A901-0BEDB6A8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052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[Nome/setor]</a:t>
            </a:r>
          </a:p>
        </p:txBody>
      </p:sp>
      <p:sp>
        <p:nvSpPr>
          <p:cNvPr id="45" name="acell">
            <a:extLst xmlns:a="http://schemas.openxmlformats.org/drawingml/2006/main">
              <a:ext uri="{FF2B5EF4-FFF2-40B4-BE49-F238E27FC236}">
                <a16:creationId xmlns:a16="http://schemas.microsoft.com/office/drawing/2014/main" id="{1BC28078-7BBF-4DE7-844C-32CA4027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09950"/>
            <a:ext cx="1771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46" name="acellt">
            <a:extLst xmlns:a="http://schemas.openxmlformats.org/drawingml/2006/main">
              <a:ext uri="{FF2B5EF4-FFF2-40B4-BE49-F238E27FC236}">
                <a16:creationId xmlns:a16="http://schemas.microsoft.com/office/drawing/2014/main" id="{A46715B5-14A9-46EB-85F0-DD32100C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50520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[Evidência]</a:t>
            </a:r>
          </a:p>
        </p:txBody>
      </p:sp>
      <p:sp>
        <p:nvSpPr>
          <p:cNvPr id="47" name="acell">
            <a:extLst xmlns:a="http://schemas.openxmlformats.org/drawingml/2006/main">
              <a:ext uri="{FF2B5EF4-FFF2-40B4-BE49-F238E27FC236}">
                <a16:creationId xmlns:a16="http://schemas.microsoft.com/office/drawing/2014/main" id="{D7389CB0-5AD3-4647-8886-91D1243E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09950"/>
            <a:ext cx="17240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48" name="acellt">
            <a:extLst xmlns:a="http://schemas.openxmlformats.org/drawingml/2006/main">
              <a:ext uri="{FF2B5EF4-FFF2-40B4-BE49-F238E27FC236}">
                <a16:creationId xmlns:a16="http://schemas.microsoft.com/office/drawing/2014/main" id="{84C5D13D-AB2D-4D6B-ABB7-C7E764F2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505200"/>
            <a:ext cx="1590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[Em curso]</a:t>
            </a:r>
          </a:p>
        </p:txBody>
      </p:sp>
      <p:sp>
        <p:nvSpPr>
          <p:cNvPr id="49" name="acell">
            <a:extLst xmlns:a="http://schemas.openxmlformats.org/drawingml/2006/main">
              <a:ext uri="{FF2B5EF4-FFF2-40B4-BE49-F238E27FC236}">
                <a16:creationId xmlns:a16="http://schemas.microsoft.com/office/drawing/2014/main" id="{29C35F90-0599-4859-8A8A-9A647669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7715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acellt">
            <a:extLst xmlns:a="http://schemas.openxmlformats.org/drawingml/2006/main">
              <a:ext uri="{FF2B5EF4-FFF2-40B4-BE49-F238E27FC236}">
                <a16:creationId xmlns:a16="http://schemas.microsoft.com/office/drawing/2014/main" id="{3FDB5EEC-ABB6-4F37-9527-7DC69910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91000"/>
            <a:ext cx="638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MÉDIA</a:t>
            </a:r>
          </a:p>
        </p:txBody>
      </p:sp>
      <p:sp>
        <p:nvSpPr>
          <p:cNvPr id="51" name="acell">
            <a:extLst xmlns:a="http://schemas.openxmlformats.org/drawingml/2006/main">
              <a:ext uri="{FF2B5EF4-FFF2-40B4-BE49-F238E27FC236}">
                <a16:creationId xmlns:a16="http://schemas.microsoft.com/office/drawing/2014/main" id="{FB699191-6222-41F1-B9CA-27068071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95750"/>
            <a:ext cx="37242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52" name="acellt">
            <a:extLst xmlns:a="http://schemas.openxmlformats.org/drawingml/2006/main">
              <a:ext uri="{FF2B5EF4-FFF2-40B4-BE49-F238E27FC236}">
                <a16:creationId xmlns:a16="http://schemas.microsoft.com/office/drawing/2014/main" id="{4B7A11E5-85A1-4320-AFB5-15AEBDAE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91000"/>
            <a:ext cx="3590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72A"/>
                </a:solidFill>
              </a:defRPr>
            </a:pPr>
            <a:r>
              <a:rPr sz="1200" b="1">
                <a:solidFill>
                  <a:srgbClr val="16372A"/>
                </a:solidFill>
              </a:rPr>
              <a:t>[Ação planejada 04]</a:t>
            </a:r>
          </a:p>
        </p:txBody>
      </p:sp>
      <p:sp>
        <p:nvSpPr>
          <p:cNvPr id="53" name="acell">
            <a:extLst xmlns:a="http://schemas.openxmlformats.org/drawingml/2006/main">
              <a:ext uri="{FF2B5EF4-FFF2-40B4-BE49-F238E27FC236}">
                <a16:creationId xmlns:a16="http://schemas.microsoft.com/office/drawing/2014/main" id="{5CA246C3-3EE0-47D1-A20A-E749BF99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2247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54" name="acellt">
            <a:extLst xmlns:a="http://schemas.openxmlformats.org/drawingml/2006/main">
              <a:ext uri="{FF2B5EF4-FFF2-40B4-BE49-F238E27FC236}">
                <a16:creationId xmlns:a16="http://schemas.microsoft.com/office/drawing/2014/main" id="{CB7E2DDE-46F3-4679-82FD-47685128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910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[Nome/setor]</a:t>
            </a:r>
          </a:p>
        </p:txBody>
      </p:sp>
      <p:sp>
        <p:nvSpPr>
          <p:cNvPr id="55" name="acell">
            <a:extLst xmlns:a="http://schemas.openxmlformats.org/drawingml/2006/main">
              <a:ext uri="{FF2B5EF4-FFF2-40B4-BE49-F238E27FC236}">
                <a16:creationId xmlns:a16="http://schemas.microsoft.com/office/drawing/2014/main" id="{ABCD1FFF-A7B4-49B9-8515-FBE76A34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1771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56" name="acellt">
            <a:extLst xmlns:a="http://schemas.openxmlformats.org/drawingml/2006/main">
              <a:ext uri="{FF2B5EF4-FFF2-40B4-BE49-F238E27FC236}">
                <a16:creationId xmlns:a16="http://schemas.microsoft.com/office/drawing/2014/main" id="{30FEE462-947C-49BA-8C9C-EEB83820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19100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[Evidência]</a:t>
            </a:r>
          </a:p>
        </p:txBody>
      </p:sp>
      <p:sp>
        <p:nvSpPr>
          <p:cNvPr id="57" name="acell">
            <a:extLst xmlns:a="http://schemas.openxmlformats.org/drawingml/2006/main">
              <a:ext uri="{FF2B5EF4-FFF2-40B4-BE49-F238E27FC236}">
                <a16:creationId xmlns:a16="http://schemas.microsoft.com/office/drawing/2014/main" id="{E069B504-3C10-4057-8359-74DEDE71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17240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58" name="acellt">
            <a:extLst xmlns:a="http://schemas.openxmlformats.org/drawingml/2006/main">
              <a:ext uri="{FF2B5EF4-FFF2-40B4-BE49-F238E27FC236}">
                <a16:creationId xmlns:a16="http://schemas.microsoft.com/office/drawing/2014/main" id="{2D7C6C21-563D-4D1F-AAAB-9938A247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191000"/>
            <a:ext cx="1590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[Em curso]</a:t>
            </a:r>
          </a:p>
        </p:txBody>
      </p:sp>
      <p:sp>
        <p:nvSpPr>
          <p:cNvPr id="59" name="acell">
            <a:extLst xmlns:a="http://schemas.openxmlformats.org/drawingml/2006/main">
              <a:ext uri="{FF2B5EF4-FFF2-40B4-BE49-F238E27FC236}">
                <a16:creationId xmlns:a16="http://schemas.microsoft.com/office/drawing/2014/main" id="{B8E4BE6E-5E82-4BE3-9983-89B76D50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7715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9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acellt">
            <a:extLst xmlns:a="http://schemas.openxmlformats.org/drawingml/2006/main">
              <a:ext uri="{FF2B5EF4-FFF2-40B4-BE49-F238E27FC236}">
                <a16:creationId xmlns:a16="http://schemas.microsoft.com/office/drawing/2014/main" id="{FC23B164-9639-4BAE-BA68-C6D12323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76800"/>
            <a:ext cx="638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BAIXA</a:t>
            </a:r>
          </a:p>
        </p:txBody>
      </p:sp>
      <p:sp>
        <p:nvSpPr>
          <p:cNvPr id="61" name="acell">
            <a:extLst xmlns:a="http://schemas.openxmlformats.org/drawingml/2006/main">
              <a:ext uri="{FF2B5EF4-FFF2-40B4-BE49-F238E27FC236}">
                <a16:creationId xmlns:a16="http://schemas.microsoft.com/office/drawing/2014/main" id="{FBB8EF5F-74E8-428E-B445-526C20AA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81550"/>
            <a:ext cx="37242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62" name="acellt">
            <a:extLst xmlns:a="http://schemas.openxmlformats.org/drawingml/2006/main">
              <a:ext uri="{FF2B5EF4-FFF2-40B4-BE49-F238E27FC236}">
                <a16:creationId xmlns:a16="http://schemas.microsoft.com/office/drawing/2014/main" id="{4B0A842B-F629-4D3C-B6A2-D8CFD918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76800"/>
            <a:ext cx="3590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72A"/>
                </a:solidFill>
              </a:defRPr>
            </a:pPr>
            <a:r>
              <a:rPr sz="1200" b="1">
                <a:solidFill>
                  <a:srgbClr val="16372A"/>
                </a:solidFill>
              </a:rPr>
              <a:t>[Melhoria 05]</a:t>
            </a:r>
          </a:p>
        </p:txBody>
      </p:sp>
      <p:sp>
        <p:nvSpPr>
          <p:cNvPr id="63" name="acell">
            <a:extLst xmlns:a="http://schemas.openxmlformats.org/drawingml/2006/main">
              <a:ext uri="{FF2B5EF4-FFF2-40B4-BE49-F238E27FC236}">
                <a16:creationId xmlns:a16="http://schemas.microsoft.com/office/drawing/2014/main" id="{A25678B8-9575-498A-9A31-3AB2E570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81550"/>
            <a:ext cx="2247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64" name="acellt">
            <a:extLst xmlns:a="http://schemas.openxmlformats.org/drawingml/2006/main">
              <a:ext uri="{FF2B5EF4-FFF2-40B4-BE49-F238E27FC236}">
                <a16:creationId xmlns:a16="http://schemas.microsoft.com/office/drawing/2014/main" id="{45E653CB-D778-4D1F-9C6F-49FAFA81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8768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[Nome/setor]</a:t>
            </a:r>
          </a:p>
        </p:txBody>
      </p:sp>
      <p:sp>
        <p:nvSpPr>
          <p:cNvPr id="65" name="acell">
            <a:extLst xmlns:a="http://schemas.openxmlformats.org/drawingml/2006/main">
              <a:ext uri="{FF2B5EF4-FFF2-40B4-BE49-F238E27FC236}">
                <a16:creationId xmlns:a16="http://schemas.microsoft.com/office/drawing/2014/main" id="{B6A8528E-5C98-42FF-8981-45F47529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81550"/>
            <a:ext cx="1771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66" name="acellt">
            <a:extLst xmlns:a="http://schemas.openxmlformats.org/drawingml/2006/main">
              <a:ext uri="{FF2B5EF4-FFF2-40B4-BE49-F238E27FC236}">
                <a16:creationId xmlns:a16="http://schemas.microsoft.com/office/drawing/2014/main" id="{89F030E4-05CC-484A-B16E-467E203D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7680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[Evidência]</a:t>
            </a:r>
          </a:p>
        </p:txBody>
      </p:sp>
      <p:sp>
        <p:nvSpPr>
          <p:cNvPr id="67" name="acell">
            <a:extLst xmlns:a="http://schemas.openxmlformats.org/drawingml/2006/main">
              <a:ext uri="{FF2B5EF4-FFF2-40B4-BE49-F238E27FC236}">
                <a16:creationId xmlns:a16="http://schemas.microsoft.com/office/drawing/2014/main" id="{D91BCEF1-9535-483A-A477-869C96C4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81550"/>
            <a:ext cx="17240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68" name="acellt">
            <a:extLst xmlns:a="http://schemas.openxmlformats.org/drawingml/2006/main">
              <a:ext uri="{FF2B5EF4-FFF2-40B4-BE49-F238E27FC236}">
                <a16:creationId xmlns:a16="http://schemas.microsoft.com/office/drawing/2014/main" id="{0815BA5C-69F4-46C3-8934-BB634008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876800"/>
            <a:ext cx="1590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[Planejada]</a:t>
            </a:r>
          </a:p>
        </p:txBody>
      </p:sp>
      <p:sp>
        <p:nvSpPr>
          <p:cNvPr id="69" name="action-note">
            <a:extLst xmlns:a="http://schemas.openxmlformats.org/drawingml/2006/main">
              <a:ext uri="{FF2B5EF4-FFF2-40B4-BE49-F238E27FC236}">
                <a16:creationId xmlns:a16="http://schemas.microsoft.com/office/drawing/2014/main" id="{A05C2BF2-F648-4EAF-A0F8-EA7ABA91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6B"/>
                </a:solidFill>
              </a:defRPr>
            </a:pPr>
            <a:r>
              <a:rPr sz="1050" b="0">
                <a:solidFill>
                  <a:srgbClr val="60776B"/>
                </a:solidFill>
              </a:rPr>
              <a:t>Amplie ou duplique este slide conforme o número de ações.</a:t>
            </a:r>
          </a:p>
        </p:txBody>
      </p:sp>
    </p:spTree>
    <p:extLst>
      <p:ext uri="{BB962C8B-B14F-4D97-AF65-F5344CB8AC3E}">
        <p14:creationId xmlns:p14="http://schemas.microsoft.com/office/powerpoint/2010/main" val="20319559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">
            <a:extLst xmlns:a="http://schemas.openxmlformats.org/drawingml/2006/main">
              <a:ext uri="{FF2B5EF4-FFF2-40B4-BE49-F238E27FC236}">
                <a16:creationId xmlns:a16="http://schemas.microsoft.com/office/drawing/2014/main" id="{EED148C9-7C82-431B-8B77-65CCF91F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8709474-E0BA-4179-A3E1-4FAE9672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A4B"/>
                </a:solidFill>
              </a:defRPr>
            </a:pPr>
            <a:r>
              <a:rPr sz="1050" b="1">
                <a:solidFill>
                  <a:srgbClr val="0B7A4B"/>
                </a:solidFill>
              </a:rPr>
              <a:t>DEVOLUTIVA EXECUTIVA DE SST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9D18BF-845A-43C0-8FCF-08427EF2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Acompanhamento das medidas por prioridade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64D17F7-52F7-40E8-A53C-4CECA87E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76B"/>
                </a:solidFill>
              </a:defRPr>
            </a:pPr>
            <a:r>
              <a:rPr sz="1125" b="1">
                <a:solidFill>
                  <a:srgbClr val="60776B"/>
                </a:solidFill>
              </a:rPr>
              <a:t>14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F00178E-89BB-4DA0-A8A0-98EEAAFC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EAFA53C-FD87-48A8-8EB0-4637DD9C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6B"/>
                </a:solidFill>
              </a:defRPr>
            </a:pPr>
            <a:r>
              <a:rPr sz="900" b="0">
                <a:solidFill>
                  <a:srgbClr val="60776B"/>
                </a:solidFill>
              </a:rPr>
              <a:t>[NOME DA EMPRESA]  •  [MÊS/ANO]</a:t>
            </a:r>
          </a:p>
        </p:txBody>
      </p:sp>
      <p:sp>
        <p:nvSpPr>
          <p:cNvPr id="7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F320CB15-1816-4C35-8ADE-CE1F6FFA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8" name="logo-text">
            <a:extLst xmlns:a="http://schemas.openxmlformats.org/drawingml/2006/main">
              <a:ext uri="{FF2B5EF4-FFF2-40B4-BE49-F238E27FC236}">
                <a16:creationId xmlns:a16="http://schemas.microsoft.com/office/drawing/2014/main" id="{FCF2B983-DE05-4B68-A782-24468B47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  <p:sp>
        <p:nvSpPr>
          <p:cNvPr id="9" name="phase">
            <a:extLst xmlns:a="http://schemas.openxmlformats.org/drawingml/2006/main">
              <a:ext uri="{FF2B5EF4-FFF2-40B4-BE49-F238E27FC236}">
                <a16:creationId xmlns:a16="http://schemas.microsoft.com/office/drawing/2014/main" id="{15420775-66CF-48A3-BDC1-ACAC61A3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333625" cy="32385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07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hase-title">
            <a:extLst xmlns:a="http://schemas.openxmlformats.org/drawingml/2006/main">
              <a:ext uri="{FF2B5EF4-FFF2-40B4-BE49-F238E27FC236}">
                <a16:creationId xmlns:a16="http://schemas.microsoft.com/office/drawing/2014/main" id="{0BFD92E2-268B-4D15-8327-505156EF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PRIORIDADE ALTA</a:t>
            </a:r>
          </a:p>
        </p:txBody>
      </p:sp>
      <p:sp>
        <p:nvSpPr>
          <p:cNvPr id="11" name="phase-copy">
            <a:extLst xmlns:a="http://schemas.openxmlformats.org/drawingml/2006/main">
              <a:ext uri="{FF2B5EF4-FFF2-40B4-BE49-F238E27FC236}">
                <a16:creationId xmlns:a16="http://schemas.microsoft.com/office/drawing/2014/main" id="{1EB7D3BA-8223-47E9-A9CA-131E54EA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8764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[Medidas]</a:t>
            </a:r>
          </a:p>
          <a:p xmlns:a="http://schemas.openxmlformats.org/drawingml/2006/main"/>
          <a:p xmlns:a="http://schemas.openxmlformats.org/drawingml/2006/main">
            <a:r>
              <a:t>[Status]</a:t>
            </a:r>
          </a:p>
          <a:p xmlns:a="http://schemas.openxmlformats.org/drawingml/2006/main"/>
          <a:p xmlns:a="http://schemas.openxmlformats.org/drawingml/2006/main">
            <a:r>
              <a:t>[Evidências]</a:t>
            </a:r>
          </a:p>
        </p:txBody>
      </p:sp>
      <p:sp>
        <p:nvSpPr>
          <p:cNvPr id="12" name="phase">
            <a:extLst xmlns:a="http://schemas.openxmlformats.org/drawingml/2006/main">
              <a:ext uri="{FF2B5EF4-FFF2-40B4-BE49-F238E27FC236}">
                <a16:creationId xmlns:a16="http://schemas.microsoft.com/office/drawing/2014/main" id="{C8B05D39-1F41-45C6-9797-E0F5BED0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38300"/>
            <a:ext cx="2333625" cy="32385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3" name="phase-title">
            <a:extLst xmlns:a="http://schemas.openxmlformats.org/drawingml/2006/main">
              <a:ext uri="{FF2B5EF4-FFF2-40B4-BE49-F238E27FC236}">
                <a16:creationId xmlns:a16="http://schemas.microsoft.com/office/drawing/2014/main" id="{BACDB260-A0D1-48FE-A150-0E519C17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669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PRIORIDADE MÉDIA</a:t>
            </a:r>
          </a:p>
        </p:txBody>
      </p:sp>
      <p:sp>
        <p:nvSpPr>
          <p:cNvPr id="14" name="phase-copy">
            <a:extLst xmlns:a="http://schemas.openxmlformats.org/drawingml/2006/main">
              <a:ext uri="{FF2B5EF4-FFF2-40B4-BE49-F238E27FC236}">
                <a16:creationId xmlns:a16="http://schemas.microsoft.com/office/drawing/2014/main" id="{F3AC806F-7677-4F3B-891E-72E03041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71750"/>
            <a:ext cx="18764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[Medidas]</a:t>
            </a:r>
          </a:p>
          <a:p xmlns:a="http://schemas.openxmlformats.org/drawingml/2006/main"/>
          <a:p xmlns:a="http://schemas.openxmlformats.org/drawingml/2006/main">
            <a:r>
              <a:t>[Status]</a:t>
            </a:r>
          </a:p>
          <a:p xmlns:a="http://schemas.openxmlformats.org/drawingml/2006/main"/>
          <a:p xmlns:a="http://schemas.openxmlformats.org/drawingml/2006/main">
            <a:r>
              <a:t>[Evidências]</a:t>
            </a:r>
          </a:p>
        </p:txBody>
      </p:sp>
      <p:sp>
        <p:nvSpPr>
          <p:cNvPr id="15" name="phase">
            <a:extLst xmlns:a="http://schemas.openxmlformats.org/drawingml/2006/main">
              <a:ext uri="{FF2B5EF4-FFF2-40B4-BE49-F238E27FC236}">
                <a16:creationId xmlns:a16="http://schemas.microsoft.com/office/drawing/2014/main" id="{E0AA038B-AB26-49B9-B507-60DC0A85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38300"/>
            <a:ext cx="2333625" cy="32385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6" name="phase-title">
            <a:extLst xmlns:a="http://schemas.openxmlformats.org/drawingml/2006/main">
              <a:ext uri="{FF2B5EF4-FFF2-40B4-BE49-F238E27FC236}">
                <a16:creationId xmlns:a16="http://schemas.microsoft.com/office/drawing/2014/main" id="{39188EF3-50A7-4AE9-93E5-FE37CB58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PRIORIDADE BAIXA</a:t>
            </a:r>
          </a:p>
        </p:txBody>
      </p:sp>
      <p:sp>
        <p:nvSpPr>
          <p:cNvPr id="17" name="phase-copy">
            <a:extLst xmlns:a="http://schemas.openxmlformats.org/drawingml/2006/main">
              <a:ext uri="{FF2B5EF4-FFF2-40B4-BE49-F238E27FC236}">
                <a16:creationId xmlns:a16="http://schemas.microsoft.com/office/drawing/2014/main" id="{597098DF-D614-49BD-B82E-321E5A05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8764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[Medidas]</a:t>
            </a:r>
          </a:p>
          <a:p xmlns:a="http://schemas.openxmlformats.org/drawingml/2006/main"/>
          <a:p xmlns:a="http://schemas.openxmlformats.org/drawingml/2006/main">
            <a:r>
              <a:t>[Status]</a:t>
            </a:r>
          </a:p>
          <a:p xmlns:a="http://schemas.openxmlformats.org/drawingml/2006/main"/>
          <a:p xmlns:a="http://schemas.openxmlformats.org/drawingml/2006/main">
            <a:r>
              <a:t>[Evidências]</a:t>
            </a:r>
          </a:p>
        </p:txBody>
      </p:sp>
      <p:sp>
        <p:nvSpPr>
          <p:cNvPr id="18" name="phase">
            <a:extLst xmlns:a="http://schemas.openxmlformats.org/drawingml/2006/main">
              <a:ext uri="{FF2B5EF4-FFF2-40B4-BE49-F238E27FC236}">
                <a16:creationId xmlns:a16="http://schemas.microsoft.com/office/drawing/2014/main" id="{B7C066E9-16E4-4A1D-8ED5-EA274962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38300"/>
            <a:ext cx="2333625" cy="32385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9" name="phase-title">
            <a:extLst xmlns:a="http://schemas.openxmlformats.org/drawingml/2006/main">
              <a:ext uri="{FF2B5EF4-FFF2-40B4-BE49-F238E27FC236}">
                <a16:creationId xmlns:a16="http://schemas.microsoft.com/office/drawing/2014/main" id="{9C833604-3674-4B57-BD5A-C9AB1EB1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669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CONCLUÍDAS</a:t>
            </a:r>
          </a:p>
        </p:txBody>
      </p:sp>
      <p:sp>
        <p:nvSpPr>
          <p:cNvPr id="20" name="phase-copy">
            <a:extLst xmlns:a="http://schemas.openxmlformats.org/drawingml/2006/main">
              <a:ext uri="{FF2B5EF4-FFF2-40B4-BE49-F238E27FC236}">
                <a16:creationId xmlns:a16="http://schemas.microsoft.com/office/drawing/2014/main" id="{33C38B17-F0C0-41B5-9656-1FC53AA9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71750"/>
            <a:ext cx="18764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[Medidas]</a:t>
            </a:r>
          </a:p>
          <a:p xmlns:a="http://schemas.openxmlformats.org/drawingml/2006/main"/>
          <a:p xmlns:a="http://schemas.openxmlformats.org/drawingml/2006/main">
            <a:r>
              <a:t>[Status]</a:t>
            </a:r>
          </a:p>
          <a:p xmlns:a="http://schemas.openxmlformats.org/drawingml/2006/main"/>
          <a:p xmlns:a="http://schemas.openxmlformats.org/drawingml/2006/main">
            <a:r>
              <a:t>[Evidências]</a:t>
            </a:r>
          </a:p>
        </p:txBody>
      </p:sp>
      <p:sp>
        <p:nvSpPr>
          <p:cNvPr id="21" name="review">
            <a:extLst xmlns:a="http://schemas.openxmlformats.org/drawingml/2006/main">
              <a:ext uri="{FF2B5EF4-FFF2-40B4-BE49-F238E27FC236}">
                <a16:creationId xmlns:a16="http://schemas.microsoft.com/office/drawing/2014/main" id="{57EC53A2-C226-4D15-B096-468F17ED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191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view-copy">
            <a:extLst xmlns:a="http://schemas.openxmlformats.org/drawingml/2006/main">
              <a:ext uri="{FF2B5EF4-FFF2-40B4-BE49-F238E27FC236}">
                <a16:creationId xmlns:a16="http://schemas.microsoft.com/office/drawing/2014/main" id="{9B36A7B8-5481-48EE-A1E2-CFCA0150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Acompanhamento: atualizar o status conforme a evolução das medidas • Participantes: [RESPONSÁVEIS]</a:t>
            </a:r>
          </a:p>
        </p:txBody>
      </p:sp>
    </p:spTree>
    <p:extLst>
      <p:ext uri="{BB962C8B-B14F-4D97-AF65-F5344CB8AC3E}">
        <p14:creationId xmlns:p14="http://schemas.microsoft.com/office/powerpoint/2010/main" val="17120988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4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20E8BE8B-0D6D-41BD-899B-9F6CC68A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DF3E5"/>
                </a:solidFill>
              </a:defRPr>
            </a:pPr>
            <a:r>
              <a:rPr sz="1200" b="1">
                <a:solidFill>
                  <a:srgbClr val="DDF3E5"/>
                </a:solidFill>
              </a:rPr>
              <a:t>PRÓXIMOS PASSOS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98C0599-9A95-45B8-A943-24689AF3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19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 gestão de SST continua depois da entrega dos laudos</a:t>
            </a:r>
          </a:p>
        </p:txBody>
      </p:sp>
      <p:sp>
        <p:nvSpPr>
          <p:cNvPr id="3" name="step-n">
            <a:extLst xmlns:a="http://schemas.openxmlformats.org/drawingml/2006/main">
              <a:ext uri="{FF2B5EF4-FFF2-40B4-BE49-F238E27FC236}">
                <a16:creationId xmlns:a16="http://schemas.microsoft.com/office/drawing/2014/main" id="{7772EFC4-B727-4AA5-A7C7-F722ABBE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A66F"/>
                </a:solidFill>
              </a:defRPr>
            </a:pPr>
            <a:r>
              <a:rPr sz="1350" b="1">
                <a:solidFill>
                  <a:srgbClr val="49A66F"/>
                </a:solidFill>
              </a:rPr>
              <a:t>01</a:t>
            </a:r>
          </a:p>
        </p:txBody>
      </p:sp>
      <p:sp>
        <p:nvSpPr>
          <p:cNvPr id="4" name="step-copy">
            <a:extLst xmlns:a="http://schemas.openxmlformats.org/drawingml/2006/main">
              <a:ext uri="{FF2B5EF4-FFF2-40B4-BE49-F238E27FC236}">
                <a16:creationId xmlns:a16="http://schemas.microsoft.com/office/drawing/2014/main" id="{43E63F8E-778A-4210-8012-A4646DBD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Validar prioridades e responsáveis</a:t>
            </a:r>
          </a:p>
        </p:txBody>
      </p:sp>
      <p:sp>
        <p:nvSpPr>
          <p:cNvPr id="5" name="step-n">
            <a:extLst xmlns:a="http://schemas.openxmlformats.org/drawingml/2006/main">
              <a:ext uri="{FF2B5EF4-FFF2-40B4-BE49-F238E27FC236}">
                <a16:creationId xmlns:a16="http://schemas.microsoft.com/office/drawing/2014/main" id="{E74EAB59-43B1-4003-9BCA-F03F9853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A66F"/>
                </a:solidFill>
              </a:defRPr>
            </a:pPr>
            <a:r>
              <a:rPr sz="1350" b="1">
                <a:solidFill>
                  <a:srgbClr val="49A66F"/>
                </a:solidFill>
              </a:rPr>
              <a:t>02</a:t>
            </a:r>
          </a:p>
        </p:txBody>
      </p:sp>
      <p:sp>
        <p:nvSpPr>
          <p:cNvPr id="6" name="step-copy">
            <a:extLst xmlns:a="http://schemas.openxmlformats.org/drawingml/2006/main">
              <a:ext uri="{FF2B5EF4-FFF2-40B4-BE49-F238E27FC236}">
                <a16:creationId xmlns:a16="http://schemas.microsoft.com/office/drawing/2014/main" id="{946DBD1F-9EBB-4B0D-BBAC-172C85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671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Executar as ações do primeiro ciclo</a:t>
            </a:r>
          </a:p>
        </p:txBody>
      </p:sp>
      <p:sp>
        <p:nvSpPr>
          <p:cNvPr id="7" name="step-n">
            <a:extLst xmlns:a="http://schemas.openxmlformats.org/drawingml/2006/main">
              <a:ext uri="{FF2B5EF4-FFF2-40B4-BE49-F238E27FC236}">
                <a16:creationId xmlns:a16="http://schemas.microsoft.com/office/drawing/2014/main" id="{D53C5646-A08B-43E5-B536-64DF3B0D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A66F"/>
                </a:solidFill>
              </a:defRPr>
            </a:pPr>
            <a:r>
              <a:rPr sz="1350" b="1">
                <a:solidFill>
                  <a:srgbClr val="49A66F"/>
                </a:solidFill>
              </a:rPr>
              <a:t>03</a:t>
            </a:r>
          </a:p>
        </p:txBody>
      </p:sp>
      <p:sp>
        <p:nvSpPr>
          <p:cNvPr id="8" name="step-copy">
            <a:extLst xmlns:a="http://schemas.openxmlformats.org/drawingml/2006/main">
              <a:ext uri="{FF2B5EF4-FFF2-40B4-BE49-F238E27FC236}">
                <a16:creationId xmlns:a16="http://schemas.microsoft.com/office/drawing/2014/main" id="{5606F500-AEE9-4D2E-B8E7-158DDE7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958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Registrar evidências e acompanhar prazos</a:t>
            </a:r>
          </a:p>
        </p:txBody>
      </p:sp>
      <p:sp>
        <p:nvSpPr>
          <p:cNvPr id="9" name="step-n">
            <a:extLst xmlns:a="http://schemas.openxmlformats.org/drawingml/2006/main">
              <a:ext uri="{FF2B5EF4-FFF2-40B4-BE49-F238E27FC236}">
                <a16:creationId xmlns:a16="http://schemas.microsoft.com/office/drawing/2014/main" id="{9CD9EBA1-85F1-4C0F-97D2-530222E2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A66F"/>
                </a:solidFill>
              </a:defRPr>
            </a:pPr>
            <a:r>
              <a:rPr sz="1350" b="1">
                <a:solidFill>
                  <a:srgbClr val="49A66F"/>
                </a:solidFill>
              </a:rPr>
              <a:t>04</a:t>
            </a:r>
          </a:p>
        </p:txBody>
      </p:sp>
      <p:sp>
        <p:nvSpPr>
          <p:cNvPr id="10" name="step-copy">
            <a:extLst xmlns:a="http://schemas.openxmlformats.org/drawingml/2006/main">
              <a:ext uri="{FF2B5EF4-FFF2-40B4-BE49-F238E27FC236}">
                <a16:creationId xmlns:a16="http://schemas.microsoft.com/office/drawing/2014/main" id="{45410B86-9A61-4122-858E-94719B96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244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Reavaliar mudanças nos processos</a:t>
            </a:r>
          </a:p>
        </p:txBody>
      </p:sp>
      <p:sp>
        <p:nvSpPr>
          <p:cNvPr id="11" name="contact">
            <a:extLst xmlns:a="http://schemas.openxmlformats.org/drawingml/2006/main">
              <a:ext uri="{FF2B5EF4-FFF2-40B4-BE49-F238E27FC236}">
                <a16:creationId xmlns:a16="http://schemas.microsoft.com/office/drawing/2014/main" id="{72648571-D26D-443C-AA14-FDD8C6FA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act-head">
            <a:extLst xmlns:a="http://schemas.openxmlformats.org/drawingml/2006/main">
              <a:ext uri="{FF2B5EF4-FFF2-40B4-BE49-F238E27FC236}">
                <a16:creationId xmlns:a16="http://schemas.microsoft.com/office/drawing/2014/main" id="{3C684281-6A46-43BD-AC37-144EE9D4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DF3E5"/>
                </a:solidFill>
              </a:defRPr>
            </a:pPr>
            <a:r>
              <a:rPr sz="1275" b="1">
                <a:solidFill>
                  <a:srgbClr val="DDF3E5"/>
                </a:solidFill>
              </a:rPr>
              <a:t>CONTATO E SUPORTE</a:t>
            </a:r>
          </a:p>
        </p:txBody>
      </p:sp>
      <p:sp>
        <p:nvSpPr>
          <p:cNvPr id="13" name="contact-copy">
            <a:extLst xmlns:a="http://schemas.openxmlformats.org/drawingml/2006/main">
              <a:ext uri="{FF2B5EF4-FFF2-40B4-BE49-F238E27FC236}">
                <a16:creationId xmlns:a16="http://schemas.microsoft.com/office/drawing/2014/main" id="{AC21994E-A93A-45A5-9B88-1CCA1296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481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[Responsável Fortneer]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[Telefone]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[E-mail]</a:t>
            </a:r>
          </a:p>
        </p:txBody>
      </p:sp>
      <p:sp>
        <p:nvSpPr>
          <p:cNvPr id="14" name="logo-placeholder">
            <a:extLst xmlns:a="http://schemas.openxmlformats.org/drawingml/2006/main">
              <a:ext uri="{FF2B5EF4-FFF2-40B4-BE49-F238E27FC236}">
                <a16:creationId xmlns:a16="http://schemas.microsoft.com/office/drawing/2014/main" id="{36C24835-80F0-4596-8DF8-47367DB1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8102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5" name="logo-text">
            <a:extLst xmlns:a="http://schemas.openxmlformats.org/drawingml/2006/main">
              <a:ext uri="{FF2B5EF4-FFF2-40B4-BE49-F238E27FC236}">
                <a16:creationId xmlns:a16="http://schemas.microsoft.com/office/drawing/2014/main" id="{FC55A80B-B086-47F0-92EC-39AE4A4E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886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76B"/>
                </a:solidFill>
              </a:defRPr>
            </a:pPr>
            <a:r>
              <a:rPr sz="975" b="1">
                <a:solidFill>
                  <a:srgbClr val="60776B"/>
                </a:solidFill>
              </a:rPr>
              <a:t>INSERIR LOGO</a:t>
            </a:r>
          </a:p>
        </p:txBody>
      </p:sp>
    </p:spTree>
    <p:extLst>
      <p:ext uri="{BB962C8B-B14F-4D97-AF65-F5344CB8AC3E}">
        <p14:creationId xmlns:p14="http://schemas.microsoft.com/office/powerpoint/2010/main" val="1840137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2026-08-18T17:19:13.5390000Z</dcterms:created>
  <dcterms:modified xsi:type="dcterms:W3CDTF">2026-08-18T17:19:13.5400000Z</dcterms:modified>
</coreProperties>
</file>